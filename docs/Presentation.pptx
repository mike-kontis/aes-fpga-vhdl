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62" r:id="rId4"/>
    <p:sldId id="258" r:id="rId5"/>
    <p:sldId id="259" r:id="rId6"/>
    <p:sldId id="268" r:id="rId7"/>
    <p:sldId id="275" r:id="rId8"/>
    <p:sldId id="276" r:id="rId9"/>
    <p:sldId id="266" r:id="rId10"/>
    <p:sldId id="269" r:id="rId11"/>
    <p:sldId id="267" r:id="rId12"/>
    <p:sldId id="273" r:id="rId13"/>
    <p:sldId id="270" r:id="rId14"/>
    <p:sldId id="271" r:id="rId15"/>
    <p:sldId id="272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286" r:id="rId25"/>
    <p:sldId id="287" r:id="rId26"/>
    <p:sldId id="285" r:id="rId27"/>
    <p:sldId id="288" r:id="rId28"/>
    <p:sldId id="290" r:id="rId29"/>
    <p:sldId id="291" r:id="rId30"/>
    <p:sldId id="292" r:id="rId31"/>
    <p:sldId id="293" r:id="rId32"/>
    <p:sldId id="294" r:id="rId33"/>
    <p:sldId id="295" r:id="rId34"/>
    <p:sldId id="297" r:id="rId35"/>
    <p:sldId id="298" r:id="rId36"/>
    <p:sldId id="299" r:id="rId37"/>
    <p:sldId id="301" r:id="rId38"/>
    <p:sldId id="300" r:id="rId39"/>
    <p:sldId id="302" r:id="rId40"/>
    <p:sldId id="305" r:id="rId41"/>
    <p:sldId id="274" r:id="rId42"/>
    <p:sldId id="303" r:id="rId43"/>
    <p:sldId id="304" r:id="rId4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8828"/>
    <a:srgbClr val="BC73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Μεσαίο στυλ 2 - Έμφαση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A04149A-A024-4AE1-9F86-0DB067BC9BA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l-GR"/>
        </a:p>
      </dgm:t>
    </dgm:pt>
    <dgm:pt modelId="{163D9E6A-B41E-44B3-A7F6-A1E11D2D8872}">
      <dgm:prSet custT="1"/>
      <dgm:spPr/>
      <dgm:t>
        <a:bodyPr/>
        <a:lstStyle/>
        <a:p>
          <a:pPr algn="ctr"/>
          <a:r>
            <a:rPr lang="el-GR" sz="3200" b="1" dirty="0"/>
            <a:t>Αντικείμενο Διπλωματικής Εργασίας</a:t>
          </a:r>
          <a:br>
            <a:rPr lang="el-GR" sz="2200" dirty="0"/>
          </a:br>
          <a:br>
            <a:rPr lang="el-GR" sz="2200" b="1" dirty="0"/>
          </a:br>
          <a:endParaRPr lang="el-GR" sz="2200" dirty="0"/>
        </a:p>
      </dgm:t>
    </dgm:pt>
    <dgm:pt modelId="{D555B584-7928-47FD-89E2-FB7D4646CC5A}" type="parTrans" cxnId="{17344497-C2D9-4A3C-9FF6-5C58004EAFF0}">
      <dgm:prSet/>
      <dgm:spPr/>
      <dgm:t>
        <a:bodyPr/>
        <a:lstStyle/>
        <a:p>
          <a:endParaRPr lang="el-GR"/>
        </a:p>
      </dgm:t>
    </dgm:pt>
    <dgm:pt modelId="{CF59B834-B1AD-4F56-8EDD-7C3752CEFA2B}" type="sibTrans" cxnId="{17344497-C2D9-4A3C-9FF6-5C58004EAFF0}">
      <dgm:prSet/>
      <dgm:spPr/>
      <dgm:t>
        <a:bodyPr/>
        <a:lstStyle/>
        <a:p>
          <a:endParaRPr lang="el-GR"/>
        </a:p>
      </dgm:t>
    </dgm:pt>
    <dgm:pt modelId="{DB4694F4-185D-4F35-9F1D-75E93E1EC5CE}" type="pres">
      <dgm:prSet presAssocID="{DA04149A-A024-4AE1-9F86-0DB067BC9BA5}" presName="linear" presStyleCnt="0">
        <dgm:presLayoutVars>
          <dgm:animLvl val="lvl"/>
          <dgm:resizeHandles val="exact"/>
        </dgm:presLayoutVars>
      </dgm:prSet>
      <dgm:spPr/>
    </dgm:pt>
    <dgm:pt modelId="{7DD6B789-3419-4FB1-B0E6-0458E6620185}" type="pres">
      <dgm:prSet presAssocID="{163D9E6A-B41E-44B3-A7F6-A1E11D2D8872}" presName="parentText" presStyleLbl="node1" presStyleIdx="0" presStyleCnt="1" custLinFactNeighborX="-2253" custLinFactNeighborY="1836">
        <dgm:presLayoutVars>
          <dgm:chMax val="0"/>
          <dgm:bulletEnabled val="1"/>
        </dgm:presLayoutVars>
      </dgm:prSet>
      <dgm:spPr/>
    </dgm:pt>
  </dgm:ptLst>
  <dgm:cxnLst>
    <dgm:cxn modelId="{A7F35E4B-8028-46DF-B339-4CA71C041AB0}" type="presOf" srcId="{163D9E6A-B41E-44B3-A7F6-A1E11D2D8872}" destId="{7DD6B789-3419-4FB1-B0E6-0458E6620185}" srcOrd="0" destOrd="0" presId="urn:microsoft.com/office/officeart/2005/8/layout/vList2"/>
    <dgm:cxn modelId="{17344497-C2D9-4A3C-9FF6-5C58004EAFF0}" srcId="{DA04149A-A024-4AE1-9F86-0DB067BC9BA5}" destId="{163D9E6A-B41E-44B3-A7F6-A1E11D2D8872}" srcOrd="0" destOrd="0" parTransId="{D555B584-7928-47FD-89E2-FB7D4646CC5A}" sibTransId="{CF59B834-B1AD-4F56-8EDD-7C3752CEFA2B}"/>
    <dgm:cxn modelId="{FE700DA5-8038-4880-A34B-E5B3EFA26BE6}" type="presOf" srcId="{DA04149A-A024-4AE1-9F86-0DB067BC9BA5}" destId="{DB4694F4-185D-4F35-9F1D-75E93E1EC5CE}" srcOrd="0" destOrd="0" presId="urn:microsoft.com/office/officeart/2005/8/layout/vList2"/>
    <dgm:cxn modelId="{053C4E7E-9F90-465D-830B-C2B50FF93F54}" type="presParOf" srcId="{DB4694F4-185D-4F35-9F1D-75E93E1EC5CE}" destId="{7DD6B789-3419-4FB1-B0E6-0458E662018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A04149A-A024-4AE1-9F86-0DB067BC9BA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l-GR"/>
        </a:p>
      </dgm:t>
    </dgm:pt>
    <dgm:pt modelId="{163D9E6A-B41E-44B3-A7F6-A1E11D2D8872}">
      <dgm:prSet custT="1"/>
      <dgm:spPr/>
      <dgm:t>
        <a:bodyPr/>
        <a:lstStyle/>
        <a:p>
          <a:pPr algn="ctr"/>
          <a:r>
            <a:rPr lang="el-GR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Κρυπτογραφία-Θεωρητικό Υπόβαθρο </a:t>
          </a:r>
          <a:r>
            <a:rPr lang="en-US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AES</a:t>
          </a:r>
          <a:br>
            <a:rPr lang="el-GR" sz="2200" dirty="0"/>
          </a:br>
          <a:br>
            <a:rPr lang="el-GR" sz="2200" b="1" dirty="0"/>
          </a:br>
          <a:endParaRPr lang="el-GR" sz="2200" dirty="0"/>
        </a:p>
      </dgm:t>
    </dgm:pt>
    <dgm:pt modelId="{D555B584-7928-47FD-89E2-FB7D4646CC5A}" type="parTrans" cxnId="{17344497-C2D9-4A3C-9FF6-5C58004EAFF0}">
      <dgm:prSet/>
      <dgm:spPr/>
      <dgm:t>
        <a:bodyPr/>
        <a:lstStyle/>
        <a:p>
          <a:endParaRPr lang="el-GR"/>
        </a:p>
      </dgm:t>
    </dgm:pt>
    <dgm:pt modelId="{CF59B834-B1AD-4F56-8EDD-7C3752CEFA2B}" type="sibTrans" cxnId="{17344497-C2D9-4A3C-9FF6-5C58004EAFF0}">
      <dgm:prSet/>
      <dgm:spPr/>
      <dgm:t>
        <a:bodyPr/>
        <a:lstStyle/>
        <a:p>
          <a:endParaRPr lang="el-GR"/>
        </a:p>
      </dgm:t>
    </dgm:pt>
    <dgm:pt modelId="{DB4694F4-185D-4F35-9F1D-75E93E1EC5CE}" type="pres">
      <dgm:prSet presAssocID="{DA04149A-A024-4AE1-9F86-0DB067BC9BA5}" presName="linear" presStyleCnt="0">
        <dgm:presLayoutVars>
          <dgm:animLvl val="lvl"/>
          <dgm:resizeHandles val="exact"/>
        </dgm:presLayoutVars>
      </dgm:prSet>
      <dgm:spPr/>
    </dgm:pt>
    <dgm:pt modelId="{7DD6B789-3419-4FB1-B0E6-0458E6620185}" type="pres">
      <dgm:prSet presAssocID="{163D9E6A-B41E-44B3-A7F6-A1E11D2D8872}" presName="parentText" presStyleLbl="node1" presStyleIdx="0" presStyleCnt="1" custLinFactNeighborY="41">
        <dgm:presLayoutVars>
          <dgm:chMax val="0"/>
          <dgm:bulletEnabled val="1"/>
        </dgm:presLayoutVars>
      </dgm:prSet>
      <dgm:spPr/>
    </dgm:pt>
  </dgm:ptLst>
  <dgm:cxnLst>
    <dgm:cxn modelId="{A7F35E4B-8028-46DF-B339-4CA71C041AB0}" type="presOf" srcId="{163D9E6A-B41E-44B3-A7F6-A1E11D2D8872}" destId="{7DD6B789-3419-4FB1-B0E6-0458E6620185}" srcOrd="0" destOrd="0" presId="urn:microsoft.com/office/officeart/2005/8/layout/vList2"/>
    <dgm:cxn modelId="{17344497-C2D9-4A3C-9FF6-5C58004EAFF0}" srcId="{DA04149A-A024-4AE1-9F86-0DB067BC9BA5}" destId="{163D9E6A-B41E-44B3-A7F6-A1E11D2D8872}" srcOrd="0" destOrd="0" parTransId="{D555B584-7928-47FD-89E2-FB7D4646CC5A}" sibTransId="{CF59B834-B1AD-4F56-8EDD-7C3752CEFA2B}"/>
    <dgm:cxn modelId="{FE700DA5-8038-4880-A34B-E5B3EFA26BE6}" type="presOf" srcId="{DA04149A-A024-4AE1-9F86-0DB067BC9BA5}" destId="{DB4694F4-185D-4F35-9F1D-75E93E1EC5CE}" srcOrd="0" destOrd="0" presId="urn:microsoft.com/office/officeart/2005/8/layout/vList2"/>
    <dgm:cxn modelId="{053C4E7E-9F90-465D-830B-C2B50FF93F54}" type="presParOf" srcId="{DB4694F4-185D-4F35-9F1D-75E93E1EC5CE}" destId="{7DD6B789-3419-4FB1-B0E6-0458E662018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A04149A-A024-4AE1-9F86-0DB067BC9BA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l-GR"/>
        </a:p>
      </dgm:t>
    </dgm:pt>
    <dgm:pt modelId="{163D9E6A-B41E-44B3-A7F6-A1E11D2D8872}">
      <dgm:prSet custT="1"/>
      <dgm:spPr/>
      <dgm:t>
        <a:bodyPr/>
        <a:lstStyle/>
        <a:p>
          <a:pPr algn="ctr"/>
          <a:r>
            <a:rPr lang="el-GR" sz="3200" b="1" dirty="0"/>
            <a:t>Αρχιτεκτονική και Σχεδίαση σε </a:t>
          </a:r>
          <a:r>
            <a:rPr lang="en-US" sz="3200" b="1" dirty="0"/>
            <a:t>VHDL</a:t>
          </a:r>
          <a:br>
            <a:rPr lang="el-GR" sz="2200" dirty="0"/>
          </a:br>
          <a:br>
            <a:rPr lang="el-GR" sz="2200" b="1" dirty="0"/>
          </a:br>
          <a:endParaRPr lang="el-GR" sz="2200" dirty="0"/>
        </a:p>
      </dgm:t>
    </dgm:pt>
    <dgm:pt modelId="{D555B584-7928-47FD-89E2-FB7D4646CC5A}" type="parTrans" cxnId="{17344497-C2D9-4A3C-9FF6-5C58004EAFF0}">
      <dgm:prSet/>
      <dgm:spPr/>
      <dgm:t>
        <a:bodyPr/>
        <a:lstStyle/>
        <a:p>
          <a:endParaRPr lang="el-GR"/>
        </a:p>
      </dgm:t>
    </dgm:pt>
    <dgm:pt modelId="{CF59B834-B1AD-4F56-8EDD-7C3752CEFA2B}" type="sibTrans" cxnId="{17344497-C2D9-4A3C-9FF6-5C58004EAFF0}">
      <dgm:prSet/>
      <dgm:spPr/>
      <dgm:t>
        <a:bodyPr/>
        <a:lstStyle/>
        <a:p>
          <a:endParaRPr lang="el-GR"/>
        </a:p>
      </dgm:t>
    </dgm:pt>
    <dgm:pt modelId="{DB4694F4-185D-4F35-9F1D-75E93E1EC5CE}" type="pres">
      <dgm:prSet presAssocID="{DA04149A-A024-4AE1-9F86-0DB067BC9BA5}" presName="linear" presStyleCnt="0">
        <dgm:presLayoutVars>
          <dgm:animLvl val="lvl"/>
          <dgm:resizeHandles val="exact"/>
        </dgm:presLayoutVars>
      </dgm:prSet>
      <dgm:spPr/>
    </dgm:pt>
    <dgm:pt modelId="{7DD6B789-3419-4FB1-B0E6-0458E6620185}" type="pres">
      <dgm:prSet presAssocID="{163D9E6A-B41E-44B3-A7F6-A1E11D2D8872}" presName="parentText" presStyleLbl="node1" presStyleIdx="0" presStyleCnt="1" custLinFactNeighborY="41">
        <dgm:presLayoutVars>
          <dgm:chMax val="0"/>
          <dgm:bulletEnabled val="1"/>
        </dgm:presLayoutVars>
      </dgm:prSet>
      <dgm:spPr/>
    </dgm:pt>
  </dgm:ptLst>
  <dgm:cxnLst>
    <dgm:cxn modelId="{A7F35E4B-8028-46DF-B339-4CA71C041AB0}" type="presOf" srcId="{163D9E6A-B41E-44B3-A7F6-A1E11D2D8872}" destId="{7DD6B789-3419-4FB1-B0E6-0458E6620185}" srcOrd="0" destOrd="0" presId="urn:microsoft.com/office/officeart/2005/8/layout/vList2"/>
    <dgm:cxn modelId="{17344497-C2D9-4A3C-9FF6-5C58004EAFF0}" srcId="{DA04149A-A024-4AE1-9F86-0DB067BC9BA5}" destId="{163D9E6A-B41E-44B3-A7F6-A1E11D2D8872}" srcOrd="0" destOrd="0" parTransId="{D555B584-7928-47FD-89E2-FB7D4646CC5A}" sibTransId="{CF59B834-B1AD-4F56-8EDD-7C3752CEFA2B}"/>
    <dgm:cxn modelId="{FE700DA5-8038-4880-A34B-E5B3EFA26BE6}" type="presOf" srcId="{DA04149A-A024-4AE1-9F86-0DB067BC9BA5}" destId="{DB4694F4-185D-4F35-9F1D-75E93E1EC5CE}" srcOrd="0" destOrd="0" presId="urn:microsoft.com/office/officeart/2005/8/layout/vList2"/>
    <dgm:cxn modelId="{053C4E7E-9F90-465D-830B-C2B50FF93F54}" type="presParOf" srcId="{DB4694F4-185D-4F35-9F1D-75E93E1EC5CE}" destId="{7DD6B789-3419-4FB1-B0E6-0458E662018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A04149A-A024-4AE1-9F86-0DB067BC9BA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l-GR"/>
        </a:p>
      </dgm:t>
    </dgm:pt>
    <dgm:pt modelId="{163D9E6A-B41E-44B3-A7F6-A1E11D2D8872}">
      <dgm:prSet custT="1"/>
      <dgm:spPr/>
      <dgm:t>
        <a:bodyPr/>
        <a:lstStyle/>
        <a:p>
          <a:pPr algn="ctr"/>
          <a:r>
            <a:rPr lang="el-GR" sz="3200" b="1" dirty="0"/>
            <a:t>Πειραματική Αξιολόγηση-Αποτελέσματα</a:t>
          </a:r>
          <a:br>
            <a:rPr lang="el-GR" sz="2200" dirty="0"/>
          </a:br>
          <a:br>
            <a:rPr lang="el-GR" sz="2200" b="1" dirty="0"/>
          </a:br>
          <a:endParaRPr lang="el-GR" sz="2200" dirty="0"/>
        </a:p>
      </dgm:t>
    </dgm:pt>
    <dgm:pt modelId="{D555B584-7928-47FD-89E2-FB7D4646CC5A}" type="parTrans" cxnId="{17344497-C2D9-4A3C-9FF6-5C58004EAFF0}">
      <dgm:prSet/>
      <dgm:spPr/>
      <dgm:t>
        <a:bodyPr/>
        <a:lstStyle/>
        <a:p>
          <a:endParaRPr lang="el-GR"/>
        </a:p>
      </dgm:t>
    </dgm:pt>
    <dgm:pt modelId="{CF59B834-B1AD-4F56-8EDD-7C3752CEFA2B}" type="sibTrans" cxnId="{17344497-C2D9-4A3C-9FF6-5C58004EAFF0}">
      <dgm:prSet/>
      <dgm:spPr/>
      <dgm:t>
        <a:bodyPr/>
        <a:lstStyle/>
        <a:p>
          <a:endParaRPr lang="el-GR"/>
        </a:p>
      </dgm:t>
    </dgm:pt>
    <dgm:pt modelId="{DB4694F4-185D-4F35-9F1D-75E93E1EC5CE}" type="pres">
      <dgm:prSet presAssocID="{DA04149A-A024-4AE1-9F86-0DB067BC9BA5}" presName="linear" presStyleCnt="0">
        <dgm:presLayoutVars>
          <dgm:animLvl val="lvl"/>
          <dgm:resizeHandles val="exact"/>
        </dgm:presLayoutVars>
      </dgm:prSet>
      <dgm:spPr/>
    </dgm:pt>
    <dgm:pt modelId="{7DD6B789-3419-4FB1-B0E6-0458E6620185}" type="pres">
      <dgm:prSet presAssocID="{163D9E6A-B41E-44B3-A7F6-A1E11D2D8872}" presName="parentText" presStyleLbl="node1" presStyleIdx="0" presStyleCnt="1" custLinFactNeighborY="41">
        <dgm:presLayoutVars>
          <dgm:chMax val="0"/>
          <dgm:bulletEnabled val="1"/>
        </dgm:presLayoutVars>
      </dgm:prSet>
      <dgm:spPr/>
    </dgm:pt>
  </dgm:ptLst>
  <dgm:cxnLst>
    <dgm:cxn modelId="{A7F35E4B-8028-46DF-B339-4CA71C041AB0}" type="presOf" srcId="{163D9E6A-B41E-44B3-A7F6-A1E11D2D8872}" destId="{7DD6B789-3419-4FB1-B0E6-0458E6620185}" srcOrd="0" destOrd="0" presId="urn:microsoft.com/office/officeart/2005/8/layout/vList2"/>
    <dgm:cxn modelId="{17344497-C2D9-4A3C-9FF6-5C58004EAFF0}" srcId="{DA04149A-A024-4AE1-9F86-0DB067BC9BA5}" destId="{163D9E6A-B41E-44B3-A7F6-A1E11D2D8872}" srcOrd="0" destOrd="0" parTransId="{D555B584-7928-47FD-89E2-FB7D4646CC5A}" sibTransId="{CF59B834-B1AD-4F56-8EDD-7C3752CEFA2B}"/>
    <dgm:cxn modelId="{FE700DA5-8038-4880-A34B-E5B3EFA26BE6}" type="presOf" srcId="{DA04149A-A024-4AE1-9F86-0DB067BC9BA5}" destId="{DB4694F4-185D-4F35-9F1D-75E93E1EC5CE}" srcOrd="0" destOrd="0" presId="urn:microsoft.com/office/officeart/2005/8/layout/vList2"/>
    <dgm:cxn modelId="{053C4E7E-9F90-465D-830B-C2B50FF93F54}" type="presParOf" srcId="{DB4694F4-185D-4F35-9F1D-75E93E1EC5CE}" destId="{7DD6B789-3419-4FB1-B0E6-0458E662018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A04149A-A024-4AE1-9F86-0DB067BC9BA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l-GR"/>
        </a:p>
      </dgm:t>
    </dgm:pt>
    <dgm:pt modelId="{163D9E6A-B41E-44B3-A7F6-A1E11D2D8872}">
      <dgm:prSet custT="1"/>
      <dgm:spPr/>
      <dgm:t>
        <a:bodyPr/>
        <a:lstStyle/>
        <a:p>
          <a:pPr algn="ctr"/>
          <a:r>
            <a:rPr lang="el-GR" sz="3200" b="1" dirty="0"/>
            <a:t>Συμπεράσματα και Μελλοντικές Επεκτάσεις</a:t>
          </a:r>
          <a:br>
            <a:rPr lang="el-GR" sz="2200" dirty="0"/>
          </a:br>
          <a:br>
            <a:rPr lang="el-GR" sz="2200" b="1" dirty="0"/>
          </a:br>
          <a:endParaRPr lang="el-GR" sz="2200" dirty="0"/>
        </a:p>
      </dgm:t>
    </dgm:pt>
    <dgm:pt modelId="{D555B584-7928-47FD-89E2-FB7D4646CC5A}" type="parTrans" cxnId="{17344497-C2D9-4A3C-9FF6-5C58004EAFF0}">
      <dgm:prSet/>
      <dgm:spPr/>
      <dgm:t>
        <a:bodyPr/>
        <a:lstStyle/>
        <a:p>
          <a:endParaRPr lang="el-GR"/>
        </a:p>
      </dgm:t>
    </dgm:pt>
    <dgm:pt modelId="{CF59B834-B1AD-4F56-8EDD-7C3752CEFA2B}" type="sibTrans" cxnId="{17344497-C2D9-4A3C-9FF6-5C58004EAFF0}">
      <dgm:prSet/>
      <dgm:spPr/>
      <dgm:t>
        <a:bodyPr/>
        <a:lstStyle/>
        <a:p>
          <a:endParaRPr lang="el-GR"/>
        </a:p>
      </dgm:t>
    </dgm:pt>
    <dgm:pt modelId="{DB4694F4-185D-4F35-9F1D-75E93E1EC5CE}" type="pres">
      <dgm:prSet presAssocID="{DA04149A-A024-4AE1-9F86-0DB067BC9BA5}" presName="linear" presStyleCnt="0">
        <dgm:presLayoutVars>
          <dgm:animLvl val="lvl"/>
          <dgm:resizeHandles val="exact"/>
        </dgm:presLayoutVars>
      </dgm:prSet>
      <dgm:spPr/>
    </dgm:pt>
    <dgm:pt modelId="{7DD6B789-3419-4FB1-B0E6-0458E6620185}" type="pres">
      <dgm:prSet presAssocID="{163D9E6A-B41E-44B3-A7F6-A1E11D2D8872}" presName="parentText" presStyleLbl="node1" presStyleIdx="0" presStyleCnt="1" custLinFactNeighborY="41">
        <dgm:presLayoutVars>
          <dgm:chMax val="0"/>
          <dgm:bulletEnabled val="1"/>
        </dgm:presLayoutVars>
      </dgm:prSet>
      <dgm:spPr/>
    </dgm:pt>
  </dgm:ptLst>
  <dgm:cxnLst>
    <dgm:cxn modelId="{A7F35E4B-8028-46DF-B339-4CA71C041AB0}" type="presOf" srcId="{163D9E6A-B41E-44B3-A7F6-A1E11D2D8872}" destId="{7DD6B789-3419-4FB1-B0E6-0458E6620185}" srcOrd="0" destOrd="0" presId="urn:microsoft.com/office/officeart/2005/8/layout/vList2"/>
    <dgm:cxn modelId="{17344497-C2D9-4A3C-9FF6-5C58004EAFF0}" srcId="{DA04149A-A024-4AE1-9F86-0DB067BC9BA5}" destId="{163D9E6A-B41E-44B3-A7F6-A1E11D2D8872}" srcOrd="0" destOrd="0" parTransId="{D555B584-7928-47FD-89E2-FB7D4646CC5A}" sibTransId="{CF59B834-B1AD-4F56-8EDD-7C3752CEFA2B}"/>
    <dgm:cxn modelId="{FE700DA5-8038-4880-A34B-E5B3EFA26BE6}" type="presOf" srcId="{DA04149A-A024-4AE1-9F86-0DB067BC9BA5}" destId="{DB4694F4-185D-4F35-9F1D-75E93E1EC5CE}" srcOrd="0" destOrd="0" presId="urn:microsoft.com/office/officeart/2005/8/layout/vList2"/>
    <dgm:cxn modelId="{053C4E7E-9F90-465D-830B-C2B50FF93F54}" type="presParOf" srcId="{DB4694F4-185D-4F35-9F1D-75E93E1EC5CE}" destId="{7DD6B789-3419-4FB1-B0E6-0458E662018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A04149A-A024-4AE1-9F86-0DB067BC9BA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l-GR"/>
        </a:p>
      </dgm:t>
    </dgm:pt>
    <dgm:pt modelId="{163D9E6A-B41E-44B3-A7F6-A1E11D2D8872}">
      <dgm:prSet custT="1"/>
      <dgm:spPr/>
      <dgm:t>
        <a:bodyPr/>
        <a:lstStyle/>
        <a:p>
          <a:pPr algn="ctr"/>
          <a:r>
            <a:rPr lang="el-GR" sz="3200" b="1" dirty="0"/>
            <a:t>Βοηθητικές Διαφάνειες</a:t>
          </a:r>
          <a:br>
            <a:rPr lang="el-GR" sz="2200" dirty="0"/>
          </a:br>
          <a:br>
            <a:rPr lang="el-GR" sz="2200" b="1" dirty="0"/>
          </a:br>
          <a:endParaRPr lang="el-GR" sz="2200" dirty="0"/>
        </a:p>
      </dgm:t>
    </dgm:pt>
    <dgm:pt modelId="{D555B584-7928-47FD-89E2-FB7D4646CC5A}" type="parTrans" cxnId="{17344497-C2D9-4A3C-9FF6-5C58004EAFF0}">
      <dgm:prSet/>
      <dgm:spPr/>
      <dgm:t>
        <a:bodyPr/>
        <a:lstStyle/>
        <a:p>
          <a:endParaRPr lang="el-GR"/>
        </a:p>
      </dgm:t>
    </dgm:pt>
    <dgm:pt modelId="{CF59B834-B1AD-4F56-8EDD-7C3752CEFA2B}" type="sibTrans" cxnId="{17344497-C2D9-4A3C-9FF6-5C58004EAFF0}">
      <dgm:prSet/>
      <dgm:spPr/>
      <dgm:t>
        <a:bodyPr/>
        <a:lstStyle/>
        <a:p>
          <a:endParaRPr lang="el-GR"/>
        </a:p>
      </dgm:t>
    </dgm:pt>
    <dgm:pt modelId="{DB4694F4-185D-4F35-9F1D-75E93E1EC5CE}" type="pres">
      <dgm:prSet presAssocID="{DA04149A-A024-4AE1-9F86-0DB067BC9BA5}" presName="linear" presStyleCnt="0">
        <dgm:presLayoutVars>
          <dgm:animLvl val="lvl"/>
          <dgm:resizeHandles val="exact"/>
        </dgm:presLayoutVars>
      </dgm:prSet>
      <dgm:spPr/>
    </dgm:pt>
    <dgm:pt modelId="{7DD6B789-3419-4FB1-B0E6-0458E6620185}" type="pres">
      <dgm:prSet presAssocID="{163D9E6A-B41E-44B3-A7F6-A1E11D2D8872}" presName="parentText" presStyleLbl="node1" presStyleIdx="0" presStyleCnt="1" custLinFactNeighborY="41">
        <dgm:presLayoutVars>
          <dgm:chMax val="0"/>
          <dgm:bulletEnabled val="1"/>
        </dgm:presLayoutVars>
      </dgm:prSet>
      <dgm:spPr/>
    </dgm:pt>
  </dgm:ptLst>
  <dgm:cxnLst>
    <dgm:cxn modelId="{A7F35E4B-8028-46DF-B339-4CA71C041AB0}" type="presOf" srcId="{163D9E6A-B41E-44B3-A7F6-A1E11D2D8872}" destId="{7DD6B789-3419-4FB1-B0E6-0458E6620185}" srcOrd="0" destOrd="0" presId="urn:microsoft.com/office/officeart/2005/8/layout/vList2"/>
    <dgm:cxn modelId="{17344497-C2D9-4A3C-9FF6-5C58004EAFF0}" srcId="{DA04149A-A024-4AE1-9F86-0DB067BC9BA5}" destId="{163D9E6A-B41E-44B3-A7F6-A1E11D2D8872}" srcOrd="0" destOrd="0" parTransId="{D555B584-7928-47FD-89E2-FB7D4646CC5A}" sibTransId="{CF59B834-B1AD-4F56-8EDD-7C3752CEFA2B}"/>
    <dgm:cxn modelId="{FE700DA5-8038-4880-A34B-E5B3EFA26BE6}" type="presOf" srcId="{DA04149A-A024-4AE1-9F86-0DB067BC9BA5}" destId="{DB4694F4-185D-4F35-9F1D-75E93E1EC5CE}" srcOrd="0" destOrd="0" presId="urn:microsoft.com/office/officeart/2005/8/layout/vList2"/>
    <dgm:cxn modelId="{053C4E7E-9F90-465D-830B-C2B50FF93F54}" type="presParOf" srcId="{DB4694F4-185D-4F35-9F1D-75E93E1EC5CE}" destId="{7DD6B789-3419-4FB1-B0E6-0458E662018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D6B789-3419-4FB1-B0E6-0458E6620185}">
      <dsp:nvSpPr>
        <dsp:cNvPr id="0" name=""/>
        <dsp:cNvSpPr/>
      </dsp:nvSpPr>
      <dsp:spPr>
        <a:xfrm>
          <a:off x="0" y="105"/>
          <a:ext cx="8131550" cy="12807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3200" b="1" kern="1200" dirty="0"/>
            <a:t>Αντικείμενο Διπλωματικής Εργασίας</a:t>
          </a:r>
          <a:br>
            <a:rPr lang="el-GR" sz="2200" kern="1200" dirty="0"/>
          </a:br>
          <a:br>
            <a:rPr lang="el-GR" sz="2200" b="1" kern="1200" dirty="0"/>
          </a:br>
          <a:endParaRPr lang="el-GR" sz="2200" kern="1200" dirty="0"/>
        </a:p>
      </dsp:txBody>
      <dsp:txXfrm>
        <a:off x="62523" y="62628"/>
        <a:ext cx="8006504" cy="115573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D6B789-3419-4FB1-B0E6-0458E6620185}">
      <dsp:nvSpPr>
        <dsp:cNvPr id="0" name=""/>
        <dsp:cNvSpPr/>
      </dsp:nvSpPr>
      <dsp:spPr>
        <a:xfrm>
          <a:off x="0" y="1042"/>
          <a:ext cx="8131550" cy="12798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3200" b="1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Κρυπτογραφία-Θεωρητικό Υπόβαθρο </a:t>
          </a:r>
          <a:r>
            <a:rPr lang="en-US" sz="3200" b="1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AES</a:t>
          </a:r>
          <a:br>
            <a:rPr lang="el-GR" sz="2200" kern="1200" dirty="0"/>
          </a:br>
          <a:br>
            <a:rPr lang="el-GR" sz="2200" b="1" kern="1200" dirty="0"/>
          </a:br>
          <a:endParaRPr lang="el-GR" sz="2200" kern="1200" dirty="0"/>
        </a:p>
      </dsp:txBody>
      <dsp:txXfrm>
        <a:off x="62477" y="63519"/>
        <a:ext cx="8006596" cy="115489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D6B789-3419-4FB1-B0E6-0458E6620185}">
      <dsp:nvSpPr>
        <dsp:cNvPr id="0" name=""/>
        <dsp:cNvSpPr/>
      </dsp:nvSpPr>
      <dsp:spPr>
        <a:xfrm>
          <a:off x="0" y="105"/>
          <a:ext cx="8131550" cy="12807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3200" b="1" kern="1200" dirty="0"/>
            <a:t>Αρχιτεκτονική και Σχεδίαση σε </a:t>
          </a:r>
          <a:r>
            <a:rPr lang="en-US" sz="3200" b="1" kern="1200" dirty="0"/>
            <a:t>VHDL</a:t>
          </a:r>
          <a:br>
            <a:rPr lang="el-GR" sz="2200" kern="1200" dirty="0"/>
          </a:br>
          <a:br>
            <a:rPr lang="el-GR" sz="2200" b="1" kern="1200" dirty="0"/>
          </a:br>
          <a:endParaRPr lang="el-GR" sz="2200" kern="1200" dirty="0"/>
        </a:p>
      </dsp:txBody>
      <dsp:txXfrm>
        <a:off x="62523" y="62628"/>
        <a:ext cx="8006504" cy="115573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D6B789-3419-4FB1-B0E6-0458E6620185}">
      <dsp:nvSpPr>
        <dsp:cNvPr id="0" name=""/>
        <dsp:cNvSpPr/>
      </dsp:nvSpPr>
      <dsp:spPr>
        <a:xfrm>
          <a:off x="0" y="105"/>
          <a:ext cx="8464310" cy="12807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3200" b="1" kern="1200" dirty="0"/>
            <a:t>Πειραματική Αξιολόγηση-Αποτελέσματα</a:t>
          </a:r>
          <a:br>
            <a:rPr lang="el-GR" sz="2200" kern="1200" dirty="0"/>
          </a:br>
          <a:br>
            <a:rPr lang="el-GR" sz="2200" b="1" kern="1200" dirty="0"/>
          </a:br>
          <a:endParaRPr lang="el-GR" sz="2200" kern="1200" dirty="0"/>
        </a:p>
      </dsp:txBody>
      <dsp:txXfrm>
        <a:off x="62523" y="62628"/>
        <a:ext cx="8339264" cy="115573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D6B789-3419-4FB1-B0E6-0458E6620185}">
      <dsp:nvSpPr>
        <dsp:cNvPr id="0" name=""/>
        <dsp:cNvSpPr/>
      </dsp:nvSpPr>
      <dsp:spPr>
        <a:xfrm>
          <a:off x="0" y="105"/>
          <a:ext cx="8838093" cy="12807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3200" b="1" kern="1200" dirty="0"/>
            <a:t>Συμπεράσματα και Μελλοντικές Επεκτάσεις</a:t>
          </a:r>
          <a:br>
            <a:rPr lang="el-GR" sz="2200" kern="1200" dirty="0"/>
          </a:br>
          <a:br>
            <a:rPr lang="el-GR" sz="2200" b="1" kern="1200" dirty="0"/>
          </a:br>
          <a:endParaRPr lang="el-GR" sz="2200" kern="1200" dirty="0"/>
        </a:p>
      </dsp:txBody>
      <dsp:txXfrm>
        <a:off x="62523" y="62628"/>
        <a:ext cx="8713047" cy="115573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D6B789-3419-4FB1-B0E6-0458E6620185}">
      <dsp:nvSpPr>
        <dsp:cNvPr id="0" name=""/>
        <dsp:cNvSpPr/>
      </dsp:nvSpPr>
      <dsp:spPr>
        <a:xfrm>
          <a:off x="0" y="105"/>
          <a:ext cx="8838093" cy="12807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3200" b="1" kern="1200" dirty="0"/>
            <a:t>Βοηθητικές Διαφάνειες</a:t>
          </a:r>
          <a:br>
            <a:rPr lang="el-GR" sz="2200" kern="1200" dirty="0"/>
          </a:br>
          <a:br>
            <a:rPr lang="el-GR" sz="2200" b="1" kern="1200" dirty="0"/>
          </a:br>
          <a:endParaRPr lang="el-GR" sz="2200" kern="1200" dirty="0"/>
        </a:p>
      </dsp:txBody>
      <dsp:txXfrm>
        <a:off x="62523" y="62628"/>
        <a:ext cx="8713047" cy="11557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l-GR"/>
              <a:t>Κάντε κλικ για να επεξεργαστείτε τον υπότιτλο του υποδείγματος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B028E-7CD1-45C5-A52F-56BD9FED8500}" type="datetimeFigureOut">
              <a:rPr lang="el-GR" smtClean="0"/>
              <a:t>15/10/2025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CBBBCC0D-1CEC-45C3-9D20-6DD7CD09CB9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967384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B028E-7CD1-45C5-A52F-56BD9FED8500}" type="datetimeFigureOut">
              <a:rPr lang="el-GR" smtClean="0"/>
              <a:t>15/10/2025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BCC0D-1CEC-45C3-9D20-6DD7CD09CB9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784439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B028E-7CD1-45C5-A52F-56BD9FED8500}" type="datetimeFigureOut">
              <a:rPr lang="el-GR" smtClean="0"/>
              <a:t>15/10/2025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BBBCC0D-1CEC-45C3-9D20-6DD7CD09CB9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522260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B028E-7CD1-45C5-A52F-56BD9FED8500}" type="datetimeFigureOut">
              <a:rPr lang="el-GR" smtClean="0"/>
              <a:t>15/10/2025</a:t>
            </a:fld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BBBCC0D-1CEC-45C3-9D20-6DD7CD09CB9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150951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B028E-7CD1-45C5-A52F-56BD9FED8500}" type="datetimeFigureOut">
              <a:rPr lang="el-GR" smtClean="0"/>
              <a:t>15/10/2025</a:t>
            </a:fld>
            <a:endParaRPr lang="el-G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BBBCC0D-1CEC-45C3-9D20-6DD7CD09CB9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717074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B028E-7CD1-45C5-A52F-56BD9FED8500}" type="datetimeFigureOut">
              <a:rPr lang="el-GR" smtClean="0"/>
              <a:t>15/10/2025</a:t>
            </a:fld>
            <a:endParaRPr lang="el-G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BCC0D-1CEC-45C3-9D20-6DD7CD09CB9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178592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B028E-7CD1-45C5-A52F-56BD9FED8500}" type="datetimeFigureOut">
              <a:rPr lang="el-GR" smtClean="0"/>
              <a:t>15/10/2025</a:t>
            </a:fld>
            <a:endParaRPr lang="el-G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BCC0D-1CEC-45C3-9D20-6DD7CD09CB9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561435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B028E-7CD1-45C5-A52F-56BD9FED8500}" type="datetimeFigureOut">
              <a:rPr lang="el-GR" smtClean="0"/>
              <a:t>15/10/2025</a:t>
            </a:fld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BCC0D-1CEC-45C3-9D20-6DD7CD09CB9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277791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l-GR"/>
              <a:t>Κάντε κλικ στο εικονίδιο για να προσθέσετε εικόνα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B028E-7CD1-45C5-A52F-56BD9FED8500}" type="datetimeFigureOut">
              <a:rPr lang="el-GR" smtClean="0"/>
              <a:t>15/10/2025</a:t>
            </a:fld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BBBCC0D-1CEC-45C3-9D20-6DD7CD09CB9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667886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Τίτλος και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B028E-7CD1-45C5-A52F-56BD9FED8500}" type="datetimeFigureOut">
              <a:rPr lang="el-GR" smtClean="0"/>
              <a:t>15/10/2025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BBBCC0D-1CEC-45C3-9D20-6DD7CD09CB9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688032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Εισαγωγικά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B028E-7CD1-45C5-A52F-56BD9FED8500}" type="datetimeFigureOut">
              <a:rPr lang="el-GR" smtClean="0"/>
              <a:t>15/10/2025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BBBCC0D-1CEC-45C3-9D20-6DD7CD09CB92}" type="slidenum">
              <a:rPr lang="el-GR" smtClean="0"/>
              <a:t>‹#›</a:t>
            </a:fld>
            <a:endParaRPr lang="el-GR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56612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Κάρτα ονόματ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l-GR"/>
              <a:t>Στυλ κειμένου υποδείγματος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B028E-7CD1-45C5-A52F-56BD9FED8500}" type="datetimeFigureOut">
              <a:rPr lang="el-GR" smtClean="0"/>
              <a:t>15/10/2025</a:t>
            </a:fld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BBBCC0D-1CEC-45C3-9D20-6DD7CD09CB9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9472146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Κάρτα ονόματος με φρά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l-GR"/>
              <a:t>Στυλ κειμένου υποδείγματος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B028E-7CD1-45C5-A52F-56BD9FED8500}" type="datetimeFigureOut">
              <a:rPr lang="el-GR" smtClean="0"/>
              <a:t>15/10/2025</a:t>
            </a:fld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BBBCC0D-1CEC-45C3-9D20-6DD7CD09CB92}" type="slidenum">
              <a:rPr lang="el-GR" smtClean="0"/>
              <a:t>‹#›</a:t>
            </a:fld>
            <a:endParaRPr lang="el-GR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458316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ή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l-GR"/>
              <a:t>Στυλ κειμένου υποδείγματος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B028E-7CD1-45C5-A52F-56BD9FED8500}" type="datetimeFigureOut">
              <a:rPr lang="el-GR" smtClean="0"/>
              <a:t>15/10/2025</a:t>
            </a:fld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BBBCC0D-1CEC-45C3-9D20-6DD7CD09CB9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2133545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B028E-7CD1-45C5-A52F-56BD9FED8500}" type="datetimeFigureOut">
              <a:rPr lang="el-GR" smtClean="0"/>
              <a:t>15/10/2025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BCC0D-1CEC-45C3-9D20-6DD7CD09CB9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5016184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B028E-7CD1-45C5-A52F-56BD9FED8500}" type="datetimeFigureOut">
              <a:rPr lang="el-GR" smtClean="0"/>
              <a:t>15/10/2025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BCC0D-1CEC-45C3-9D20-6DD7CD09CB9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789877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l-G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BB028E-7CD1-45C5-A52F-56BD9FED8500}" type="datetimeFigureOut">
              <a:rPr lang="el-GR" smtClean="0"/>
              <a:t>15/10/2025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BBBCC0D-1CEC-45C3-9D20-6DD7CD09CB9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874964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" Target="slide4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" Target="slide4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slide" Target="slide4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slide" Target="slide2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slide" Target="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402553A5-737D-04E1-A939-3E5670EDAB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9213" y="1086450"/>
            <a:ext cx="8915399" cy="2836821"/>
          </a:xfrm>
        </p:spPr>
        <p:txBody>
          <a:bodyPr>
            <a:normAutofit fontScale="90000"/>
          </a:bodyPr>
          <a:lstStyle/>
          <a:p>
            <a:pPr algn="ctr"/>
            <a:r>
              <a:rPr lang="el-GR" sz="4800" b="1" dirty="0"/>
              <a:t>Υλοποίηση του Αλγορίθμου Κρυπτογράφησης </a:t>
            </a:r>
            <a:r>
              <a:rPr lang="en-US" sz="4800" b="1" dirty="0"/>
              <a:t>AES</a:t>
            </a:r>
            <a:r>
              <a:rPr lang="el-GR" sz="4800" b="1" dirty="0"/>
              <a:t> σε</a:t>
            </a:r>
            <a:r>
              <a:rPr lang="en-US" sz="4800" b="1" dirty="0"/>
              <a:t> VHDL </a:t>
            </a:r>
            <a:r>
              <a:rPr lang="el-GR" sz="4800" b="1" dirty="0"/>
              <a:t>για το </a:t>
            </a:r>
            <a:r>
              <a:rPr lang="en-US" sz="4800" b="1" dirty="0"/>
              <a:t>FPGA</a:t>
            </a:r>
            <a:r>
              <a:rPr lang="el-GR" sz="4800" b="1" dirty="0"/>
              <a:t> </a:t>
            </a:r>
            <a:r>
              <a:rPr lang="en-US" sz="4800" b="1" dirty="0"/>
              <a:t>Cyclone II </a:t>
            </a:r>
            <a:r>
              <a:rPr lang="el-GR" sz="4800" b="1" dirty="0"/>
              <a:t>της </a:t>
            </a:r>
            <a:r>
              <a:rPr lang="en-US" sz="4800" b="1" dirty="0"/>
              <a:t>Altera.</a:t>
            </a:r>
            <a:endParaRPr lang="el-GR" sz="4800" b="1" dirty="0"/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6CE7EFB9-4766-1CC7-FCED-53F21E97AA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9213" y="4067742"/>
            <a:ext cx="8915399" cy="1703808"/>
          </a:xfrm>
        </p:spPr>
        <p:txBody>
          <a:bodyPr>
            <a:normAutofit/>
          </a:bodyPr>
          <a:lstStyle/>
          <a:p>
            <a:pPr algn="ctr"/>
            <a:r>
              <a:rPr lang="el-GR" sz="2000" b="1" dirty="0"/>
              <a:t>Παρουσίαση Διπλωματικής Εργασίας</a:t>
            </a:r>
            <a:r>
              <a:rPr lang="el-GR" sz="2000" dirty="0"/>
              <a:t>           </a:t>
            </a:r>
          </a:p>
          <a:p>
            <a:pPr algn="ctr"/>
            <a:r>
              <a:rPr lang="el-GR" sz="2000" dirty="0"/>
              <a:t>Κόντης Μιχαήλ     </a:t>
            </a:r>
          </a:p>
          <a:p>
            <a:pPr algn="ctr"/>
            <a:endParaRPr lang="el-GR" sz="2000" dirty="0"/>
          </a:p>
          <a:p>
            <a:pPr algn="ctr"/>
            <a:r>
              <a:rPr lang="el-GR" sz="2000" dirty="0"/>
              <a:t>Οκτώβριος 2025                                                                                                        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5BC9FBD8-58F6-7987-C5A0-FA7A9C96065B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12334" y="280952"/>
            <a:ext cx="1357630" cy="1610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564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7">
            <a:extLst>
              <a:ext uri="{FF2B5EF4-FFF2-40B4-BE49-F238E27FC236}">
                <a16:creationId xmlns:a16="http://schemas.microsoft.com/office/drawing/2014/main" id="{0A46F010-D160-4609-8979-FFD8C1EA6C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BB3E08E5-CF95-DFEB-6A41-6989819D5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3062" y="624110"/>
            <a:ext cx="8131550" cy="1280890"/>
          </a:xfrm>
        </p:spPr>
        <p:txBody>
          <a:bodyPr>
            <a:normAutofit/>
          </a:bodyPr>
          <a:lstStyle/>
          <a:p>
            <a:r>
              <a:rPr lang="el-GR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Δομή Παρουσίασης</a:t>
            </a:r>
            <a:br>
              <a:rPr lang="el-GR" b="1" dirty="0">
                <a:solidFill>
                  <a:schemeClr val="accent1"/>
                </a:solidFill>
              </a:rPr>
            </a:br>
            <a:endParaRPr lang="el-GR" b="1" dirty="0">
              <a:solidFill>
                <a:schemeClr val="accent1"/>
              </a:solidFill>
            </a:endParaRPr>
          </a:p>
        </p:txBody>
      </p:sp>
      <p:sp>
        <p:nvSpPr>
          <p:cNvPr id="39" name="Rectangle 9">
            <a:extLst>
              <a:ext uri="{FF2B5EF4-FFF2-40B4-BE49-F238E27FC236}">
                <a16:creationId xmlns:a16="http://schemas.microsoft.com/office/drawing/2014/main" id="{81B8C4F6-C3AC-4C94-8EC7-E4F7B7E9C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285151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" name="Group 11">
            <a:extLst>
              <a:ext uri="{FF2B5EF4-FFF2-40B4-BE49-F238E27FC236}">
                <a16:creationId xmlns:a16="http://schemas.microsoft.com/office/drawing/2014/main" id="{0B789310-9859-4942-98C8-3D2F12AAA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  <a:solidFill>
            <a:schemeClr val="tx2">
              <a:lumMod val="60000"/>
              <a:lumOff val="40000"/>
              <a:alpha val="40000"/>
            </a:schemeClr>
          </a:solidFill>
        </p:grpSpPr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FE9E5460-2AA9-4786-B69C-23DBEF356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E344A2AF-3860-4427-B13E-98021C17AB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DDBDD44E-1DC0-48AB-8FEC-E098D91974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3151FF3E-5E3F-4D82-A684-0003BACEA8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C6CBF27E-7F0C-4489-95A7-82DE1C0460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233BE304-221E-425E-A484-4B2E5F405B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10D5734E-EAEA-4A08-86A9-39BD5563EC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0" name="Freeform 18">
              <a:extLst>
                <a:ext uri="{FF2B5EF4-FFF2-40B4-BE49-F238E27FC236}">
                  <a16:creationId xmlns:a16="http://schemas.microsoft.com/office/drawing/2014/main" id="{4D47FE86-98D1-4E35-86E4-16E9A19A64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1" name="Freeform 19">
              <a:extLst>
                <a:ext uri="{FF2B5EF4-FFF2-40B4-BE49-F238E27FC236}">
                  <a16:creationId xmlns:a16="http://schemas.microsoft.com/office/drawing/2014/main" id="{F00661F9-B224-4DB1-8EFB-ABF9402BDE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679DCB4E-8D36-4B7A-AF0C-8399F113AE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4FAD51F6-D24C-4FD6-BEAE-41F0E5A825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87AC773F-6D31-458A-9DD7-76566C8A9C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F1CEC7A-E419-4950-AA57-B00546C29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  <a:solidFill>
            <a:schemeClr val="tx2">
              <a:lumMod val="75000"/>
              <a:alpha val="70000"/>
            </a:schemeClr>
          </a:solidFill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7AE7DCD1-5235-45E8-B229-15A3E3962E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C82E58C3-65A5-4079-BF94-E675AA410C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7AABE1FA-6DC8-4A47-AC5C-F05B9C111C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17BB7298-8900-4C67-B800-BD241F0199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EE3442F8-53C2-490C-94EF-E423ECB95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3DBEA916-8B10-493A-8CBF-9B5FA2A4A0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3" name="Freeform 33">
              <a:extLst>
                <a:ext uri="{FF2B5EF4-FFF2-40B4-BE49-F238E27FC236}">
                  <a16:creationId xmlns:a16="http://schemas.microsoft.com/office/drawing/2014/main" id="{248DB27B-F9EA-4F81-A746-7D57B768E0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4" name="Freeform 34">
              <a:extLst>
                <a:ext uri="{FF2B5EF4-FFF2-40B4-BE49-F238E27FC236}">
                  <a16:creationId xmlns:a16="http://schemas.microsoft.com/office/drawing/2014/main" id="{998E5C90-2A81-4013-AE09-2023B4407C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5" name="Freeform 35">
              <a:extLst>
                <a:ext uri="{FF2B5EF4-FFF2-40B4-BE49-F238E27FC236}">
                  <a16:creationId xmlns:a16="http://schemas.microsoft.com/office/drawing/2014/main" id="{86A8318B-7607-4519-8EEB-C7DD509653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5009FB1B-4865-45DB-8727-F012E3ACA5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5B209B64-3A98-4B1A-857A-2368AFED67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EB3B5D03-7AE3-411C-A820-6844E7D0C6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</p:grpSp>
      <p:sp>
        <p:nvSpPr>
          <p:cNvPr id="40" name="Freeform 11">
            <a:extLst>
              <a:ext uri="{FF2B5EF4-FFF2-40B4-BE49-F238E27FC236}">
                <a16:creationId xmlns:a16="http://schemas.microsoft.com/office/drawing/2014/main" id="{91328346-8BAD-4616-B50B-5CFDA5648D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411452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l-GR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B7E7AC15-E7B2-C9FD-E113-1D1C2697BB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73062" y="1563330"/>
            <a:ext cx="8131550" cy="4857134"/>
          </a:xfrm>
        </p:spPr>
        <p:txBody>
          <a:bodyPr>
            <a:normAutofit/>
          </a:bodyPr>
          <a:lstStyle/>
          <a:p>
            <a:r>
              <a:rPr lang="el-G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Αντικείμενο Διπλωματικής Εργασίας</a:t>
            </a:r>
          </a:p>
          <a:p>
            <a:pPr marL="0" indent="0">
              <a:buNone/>
            </a:pPr>
            <a:endParaRPr lang="el-GR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l-G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Κρυπτογραφία-Θεωρητικό Υπόβαθρο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AES</a:t>
            </a:r>
            <a:endParaRPr lang="el-GR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l-GR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l-G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Αρχιτεκτονική και Σχεδίαση σε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VHDL</a:t>
            </a:r>
            <a:endParaRPr lang="el-GR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l-G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Πειραματική Αξιολόγηση – Αποτελέσματα</a:t>
            </a:r>
          </a:p>
          <a:p>
            <a:pPr marL="0" indent="0">
              <a:buNone/>
            </a:pPr>
            <a:endParaRPr lang="el-GR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l-G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Συμπεράσματα και Μελλοντικές Επεκτάσεις</a:t>
            </a:r>
          </a:p>
        </p:txBody>
      </p:sp>
      <p:cxnSp>
        <p:nvCxnSpPr>
          <p:cNvPr id="5" name="Ευθεία γραμμή σύνδεσης 4">
            <a:extLst>
              <a:ext uri="{FF2B5EF4-FFF2-40B4-BE49-F238E27FC236}">
                <a16:creationId xmlns:a16="http://schemas.microsoft.com/office/drawing/2014/main" id="{FAF9F57A-3B0A-C143-BDD6-09B191C1BF10}"/>
              </a:ext>
            </a:extLst>
          </p:cNvPr>
          <p:cNvCxnSpPr/>
          <p:nvPr/>
        </p:nvCxnSpPr>
        <p:spPr>
          <a:xfrm>
            <a:off x="3373062" y="1399026"/>
            <a:ext cx="8209338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0081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A0E5D9-6B1F-D079-A9D4-5DBA5A69B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7">
            <a:extLst>
              <a:ext uri="{FF2B5EF4-FFF2-40B4-BE49-F238E27FC236}">
                <a16:creationId xmlns:a16="http://schemas.microsoft.com/office/drawing/2014/main" id="{5D7F7416-FAC2-42A7-1E22-5EFD59B55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Διάγραμμα 3">
            <a:extLst>
              <a:ext uri="{FF2B5EF4-FFF2-40B4-BE49-F238E27FC236}">
                <a16:creationId xmlns:a16="http://schemas.microsoft.com/office/drawing/2014/main" id="{7D824EF7-ECE6-A5D5-6424-8A787E2EF29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01015737"/>
              </p:ext>
            </p:extLst>
          </p:nvPr>
        </p:nvGraphicFramePr>
        <p:xfrm>
          <a:off x="3225299" y="2826740"/>
          <a:ext cx="8131550" cy="12808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9" name="Rectangle 9">
            <a:extLst>
              <a:ext uri="{FF2B5EF4-FFF2-40B4-BE49-F238E27FC236}">
                <a16:creationId xmlns:a16="http://schemas.microsoft.com/office/drawing/2014/main" id="{EEBA51E4-DAF5-5687-5F46-C9986557AE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285151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" name="Group 11">
            <a:extLst>
              <a:ext uri="{FF2B5EF4-FFF2-40B4-BE49-F238E27FC236}">
                <a16:creationId xmlns:a16="http://schemas.microsoft.com/office/drawing/2014/main" id="{0A5481E1-4AE6-AE0C-D4A6-8E4BCDB98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  <a:solidFill>
            <a:schemeClr val="tx2">
              <a:lumMod val="60000"/>
              <a:lumOff val="40000"/>
              <a:alpha val="40000"/>
            </a:schemeClr>
          </a:solidFill>
        </p:grpSpPr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2309633A-1377-6031-3CA3-7346B92365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1E41491E-42F1-E995-3E92-B974D53C60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4503223E-E050-028B-8896-CB1E3BA511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AD172BC2-FAD2-93CD-BF45-A4771E54A3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1FD76F74-8D12-7F33-70DD-44037AD903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C6E169F2-8B8F-0CF1-8DA1-F44E697F86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02CCEF08-C9E5-04FD-0E71-90C13D1B24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0" name="Freeform 18">
              <a:extLst>
                <a:ext uri="{FF2B5EF4-FFF2-40B4-BE49-F238E27FC236}">
                  <a16:creationId xmlns:a16="http://schemas.microsoft.com/office/drawing/2014/main" id="{B5654566-3C71-6DC0-F96E-600D05C741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1" name="Freeform 19">
              <a:extLst>
                <a:ext uri="{FF2B5EF4-FFF2-40B4-BE49-F238E27FC236}">
                  <a16:creationId xmlns:a16="http://schemas.microsoft.com/office/drawing/2014/main" id="{F51C763A-EF81-2689-5CC2-81CDBFA04A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7C460B7C-EF52-4AB1-2EF5-E56505843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FBA564C1-EE6A-9099-D0F9-28FAC3D632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F0D3FFB8-9DAD-88EA-77D1-DCE82B13FA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F7F104B-5C6E-069A-5948-C8B014DEE6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  <a:solidFill>
            <a:schemeClr val="tx2">
              <a:lumMod val="75000"/>
              <a:alpha val="70000"/>
            </a:schemeClr>
          </a:solidFill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AAEE3934-F719-7B7C-163A-586A761C25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645C6A2E-AB0D-6C12-554A-FA379D8689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023AC656-0C66-F47F-0ED4-005D824BB3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E8206985-1DD5-7CF0-55E1-4002BBCF0F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8FF6AE00-5835-7EDB-C8C8-976AD42D1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7C70A0AD-123C-279A-0EAA-C325547D01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3" name="Freeform 33">
              <a:extLst>
                <a:ext uri="{FF2B5EF4-FFF2-40B4-BE49-F238E27FC236}">
                  <a16:creationId xmlns:a16="http://schemas.microsoft.com/office/drawing/2014/main" id="{62B9358E-BC68-531B-C3C4-5D903500DA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4" name="Freeform 34">
              <a:extLst>
                <a:ext uri="{FF2B5EF4-FFF2-40B4-BE49-F238E27FC236}">
                  <a16:creationId xmlns:a16="http://schemas.microsoft.com/office/drawing/2014/main" id="{49A2A48C-B6EA-11ED-9D9C-B6FAE1C29A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5" name="Freeform 35">
              <a:extLst>
                <a:ext uri="{FF2B5EF4-FFF2-40B4-BE49-F238E27FC236}">
                  <a16:creationId xmlns:a16="http://schemas.microsoft.com/office/drawing/2014/main" id="{9E740889-D819-17AB-EF1C-2C538D310C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1852FE98-07CB-A61B-897C-CDD1DC2EB9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E539F2BE-7EC0-E41A-2D40-21E39CA193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6EB79382-D1AE-3B2A-8C5E-F9D9A1F71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</p:grpSp>
      <p:sp>
        <p:nvSpPr>
          <p:cNvPr id="40" name="Freeform 11">
            <a:extLst>
              <a:ext uri="{FF2B5EF4-FFF2-40B4-BE49-F238E27FC236}">
                <a16:creationId xmlns:a16="http://schemas.microsoft.com/office/drawing/2014/main" id="{C74ABD1D-296D-4FB6-6DB7-F3A21C2E1B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411452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3020602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F8D20CE6-D451-0659-F9CC-D27B7906238A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l-GR" sz="32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Σκοπός και Στόχοι</a:t>
            </a:r>
            <a:br>
              <a:rPr lang="el-GR" dirty="0"/>
            </a:br>
            <a:endParaRPr lang="el-GR" dirty="0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8B7FDB27-A4A1-BBAA-D5F5-52D0157E69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986119"/>
            <a:ext cx="8915400" cy="4013593"/>
          </a:xfrm>
        </p:spPr>
        <p:txBody>
          <a:bodyPr>
            <a:normAutofit lnSpcReduction="10000"/>
          </a:bodyPr>
          <a:lstStyle/>
          <a:p>
            <a:r>
              <a:rPr lang="el-GR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Ο </a:t>
            </a:r>
            <a:r>
              <a:rPr lang="el-GR" sz="1900" b="1" i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σκοπός</a:t>
            </a:r>
            <a:r>
              <a:rPr lang="el-GR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της εργασίας είναι η ανάπτυξη ενός ολοκληρωμένου συστήματος κρυπτογράφησης/αποκρυπτογράφησης με χρήση του αλγορίθμου </a:t>
            </a:r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AES </a:t>
            </a:r>
            <a:r>
              <a:rPr lang="el-GR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σε πραγματικό υλικό(</a:t>
            </a:r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FPGA).</a:t>
            </a:r>
            <a:endParaRPr lang="el-GR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l-GR" sz="1900" b="1" i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Στόχοι </a:t>
            </a:r>
            <a:r>
              <a:rPr lang="el-GR" sz="19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της εργασίας είναι</a:t>
            </a:r>
            <a:r>
              <a:rPr lang="en-US" sz="19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l-GR" sz="19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l-GR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Η σχεδίαση και υλοποίηση ενός πλήρους πυρήνα </a:t>
            </a:r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AES</a:t>
            </a:r>
            <a:r>
              <a:rPr lang="el-GR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με υποστήριξη και των τριών εκδόσεων(128,192,256 </a:t>
            </a:r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bit)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l-GR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Η διασύνδεση μεταξύ </a:t>
            </a:r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FPGA</a:t>
            </a:r>
            <a:r>
              <a:rPr lang="el-GR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και </a:t>
            </a:r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PC</a:t>
            </a:r>
            <a:r>
              <a:rPr lang="el-GR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μέσω </a:t>
            </a:r>
            <a:r>
              <a:rPr lang="el-GR" sz="1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διεπαφής</a:t>
            </a:r>
            <a:r>
              <a:rPr lang="el-GR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UART </a:t>
            </a:r>
            <a:r>
              <a:rPr lang="el-GR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για φόρτωση δεδομένων και ανάκτηση αποτελεσμάτων</a:t>
            </a:r>
            <a:endParaRPr lang="en-US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l-GR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Η αξιολόγηση απόδοσης και βελτιστοποίησης πόρων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l-GR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Η επαλήθευση λειτουργίας μέσω προσομοιώσεων και πειραμάτων</a:t>
            </a:r>
            <a:endParaRPr lang="en-US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endParaRPr lang="en-US" sz="2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en-US" sz="2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2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l-GR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" name="Ευθεία γραμμή σύνδεσης 3">
            <a:extLst>
              <a:ext uri="{FF2B5EF4-FFF2-40B4-BE49-F238E27FC236}">
                <a16:creationId xmlns:a16="http://schemas.microsoft.com/office/drawing/2014/main" id="{6BF3129A-53FD-F56A-B613-9437DFBE32FC}"/>
              </a:ext>
            </a:extLst>
          </p:cNvPr>
          <p:cNvCxnSpPr>
            <a:cxnSpLocks/>
          </p:cNvCxnSpPr>
          <p:nvPr/>
        </p:nvCxnSpPr>
        <p:spPr>
          <a:xfrm>
            <a:off x="2488158" y="1399026"/>
            <a:ext cx="8632126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4678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FC52FEEA-0F48-63E8-BAFA-7EADC4DE4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z="32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Ροή Ολοκληρωμένου Συστήματος </a:t>
            </a:r>
            <a:r>
              <a:rPr lang="en-US" sz="32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AES</a:t>
            </a:r>
            <a:r>
              <a:rPr lang="el-GR" sz="32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el-GR" dirty="0"/>
            </a:br>
            <a:endParaRPr lang="el-GR" dirty="0"/>
          </a:p>
        </p:txBody>
      </p:sp>
      <p:pic>
        <p:nvPicPr>
          <p:cNvPr id="6" name="Θέση περιεχομένου 5" descr="Εικόνα που περιέχει κείμενο, στιγμιότυπο οθόνης, διάγραμμα, γραμμή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CC1491BD-E4D9-AF94-0B5E-4DED2E394F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8377" y="2423653"/>
            <a:ext cx="8911687" cy="2566219"/>
          </a:xfrm>
        </p:spPr>
      </p:pic>
      <p:cxnSp>
        <p:nvCxnSpPr>
          <p:cNvPr id="4" name="Ευθεία γραμμή σύνδεσης 3">
            <a:extLst>
              <a:ext uri="{FF2B5EF4-FFF2-40B4-BE49-F238E27FC236}">
                <a16:creationId xmlns:a16="http://schemas.microsoft.com/office/drawing/2014/main" id="{6479CF2A-DA1C-E63F-162B-7C17E4992226}"/>
              </a:ext>
            </a:extLst>
          </p:cNvPr>
          <p:cNvCxnSpPr>
            <a:cxnSpLocks/>
          </p:cNvCxnSpPr>
          <p:nvPr/>
        </p:nvCxnSpPr>
        <p:spPr>
          <a:xfrm>
            <a:off x="2488158" y="1399026"/>
            <a:ext cx="8632126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2649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8059DD-6F02-75F1-69DD-B661BC356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7">
            <a:extLst>
              <a:ext uri="{FF2B5EF4-FFF2-40B4-BE49-F238E27FC236}">
                <a16:creationId xmlns:a16="http://schemas.microsoft.com/office/drawing/2014/main" id="{BA65FB4A-44AA-AFE2-6237-14EB20A5A7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Διάγραμμα 3">
            <a:extLst>
              <a:ext uri="{FF2B5EF4-FFF2-40B4-BE49-F238E27FC236}">
                <a16:creationId xmlns:a16="http://schemas.microsoft.com/office/drawing/2014/main" id="{E7D9EF7A-9C44-361E-18FD-6A04BC9C7E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28179649"/>
              </p:ext>
            </p:extLst>
          </p:nvPr>
        </p:nvGraphicFramePr>
        <p:xfrm>
          <a:off x="3225299" y="2826740"/>
          <a:ext cx="8131550" cy="12808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9" name="Rectangle 9">
            <a:extLst>
              <a:ext uri="{FF2B5EF4-FFF2-40B4-BE49-F238E27FC236}">
                <a16:creationId xmlns:a16="http://schemas.microsoft.com/office/drawing/2014/main" id="{28200A56-A5B2-0AB1-B09C-E2BC7E0A6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285151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" name="Group 11">
            <a:extLst>
              <a:ext uri="{FF2B5EF4-FFF2-40B4-BE49-F238E27FC236}">
                <a16:creationId xmlns:a16="http://schemas.microsoft.com/office/drawing/2014/main" id="{EE529165-D5D5-5BF6-460A-031A96553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  <a:solidFill>
            <a:schemeClr val="tx2">
              <a:lumMod val="60000"/>
              <a:lumOff val="40000"/>
              <a:alpha val="40000"/>
            </a:schemeClr>
          </a:solidFill>
        </p:grpSpPr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8A5804D7-3EE3-0D4D-4416-392BF555AD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81254D37-10D8-41E8-3B1A-367636324E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524FD986-14F8-1758-CA84-00564496C9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FB339684-33C3-2893-F2D9-80162DA6F0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E903B1B8-4DEA-64B0-EC7A-F33C112EDE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20DF5177-D356-118A-0B26-169D90E667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2242C09E-9608-C3CA-3555-529E6F7874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0" name="Freeform 18">
              <a:extLst>
                <a:ext uri="{FF2B5EF4-FFF2-40B4-BE49-F238E27FC236}">
                  <a16:creationId xmlns:a16="http://schemas.microsoft.com/office/drawing/2014/main" id="{728AA074-9EAC-9FB4-6954-CC0CD6564D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1" name="Freeform 19">
              <a:extLst>
                <a:ext uri="{FF2B5EF4-FFF2-40B4-BE49-F238E27FC236}">
                  <a16:creationId xmlns:a16="http://schemas.microsoft.com/office/drawing/2014/main" id="{7F5C70E6-1163-58C9-522C-BA6D4363EE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2DF614A1-C2A6-3F73-414B-06BA46CED2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FB429EE2-A4AF-1862-EA31-A42628BB43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E58D2F24-FAFC-2483-A2E9-4B026ED80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8CCD860-5365-A69C-D3ED-C032BD0EA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  <a:solidFill>
            <a:schemeClr val="tx2">
              <a:lumMod val="75000"/>
              <a:alpha val="70000"/>
            </a:schemeClr>
          </a:solidFill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B7CC892C-B0C2-4736-C5FB-DCA2A4076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122D3F95-99D8-AD7C-86AF-F868801E5A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096BB713-1A7F-ADBA-E2E2-BD25DDBABD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4A78C30D-B1D2-6871-F3B1-404D1FB0D5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0C49EAD5-0222-9105-E0EC-BC53DFEEF3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761D234B-5B03-80AF-F621-6A6B113BDE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3" name="Freeform 33">
              <a:extLst>
                <a:ext uri="{FF2B5EF4-FFF2-40B4-BE49-F238E27FC236}">
                  <a16:creationId xmlns:a16="http://schemas.microsoft.com/office/drawing/2014/main" id="{F7060A95-792D-7F2F-4BC6-AAB7663BBD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4" name="Freeform 34">
              <a:extLst>
                <a:ext uri="{FF2B5EF4-FFF2-40B4-BE49-F238E27FC236}">
                  <a16:creationId xmlns:a16="http://schemas.microsoft.com/office/drawing/2014/main" id="{55E3A1AD-934A-DE02-5FA5-3B5478A57D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5" name="Freeform 35">
              <a:extLst>
                <a:ext uri="{FF2B5EF4-FFF2-40B4-BE49-F238E27FC236}">
                  <a16:creationId xmlns:a16="http://schemas.microsoft.com/office/drawing/2014/main" id="{0C5D6BCF-BA4C-07D5-468C-5FE7BC1DEC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621439-6024-FCDB-711C-68AA09C3E9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94257FD3-73F2-50F4-E923-29395C09C5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355F4A98-1B12-8236-EDE0-FED92EAC17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</p:grpSp>
      <p:sp>
        <p:nvSpPr>
          <p:cNvPr id="40" name="Freeform 11">
            <a:extLst>
              <a:ext uri="{FF2B5EF4-FFF2-40B4-BE49-F238E27FC236}">
                <a16:creationId xmlns:a16="http://schemas.microsoft.com/office/drawing/2014/main" id="{36E02CEB-244D-713B-6397-CFF1E9892E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411452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073370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C1370-3B22-F155-89AD-303AE096A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E4A8787A-5746-4B62-2942-C0AC6E1D0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z="32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Τι είναι η Κρυπτογραφία</a:t>
            </a:r>
            <a:r>
              <a:rPr lang="en-US" sz="32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  <a:br>
              <a:rPr lang="el-GR" dirty="0"/>
            </a:br>
            <a:endParaRPr lang="el-GR" dirty="0"/>
          </a:p>
        </p:txBody>
      </p:sp>
      <p:cxnSp>
        <p:nvCxnSpPr>
          <p:cNvPr id="4" name="Ευθεία γραμμή σύνδεσης 3">
            <a:extLst>
              <a:ext uri="{FF2B5EF4-FFF2-40B4-BE49-F238E27FC236}">
                <a16:creationId xmlns:a16="http://schemas.microsoft.com/office/drawing/2014/main" id="{9C96316B-9143-7CF5-6536-4EAD65184F24}"/>
              </a:ext>
            </a:extLst>
          </p:cNvPr>
          <p:cNvCxnSpPr>
            <a:cxnSpLocks/>
          </p:cNvCxnSpPr>
          <p:nvPr/>
        </p:nvCxnSpPr>
        <p:spPr>
          <a:xfrm>
            <a:off x="2488158" y="1399026"/>
            <a:ext cx="8632126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Θέση περιεχομένου 4">
            <a:extLst>
              <a:ext uri="{FF2B5EF4-FFF2-40B4-BE49-F238E27FC236}">
                <a16:creationId xmlns:a16="http://schemas.microsoft.com/office/drawing/2014/main" id="{5FA00720-5233-874B-4312-7B0DF8B8C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94507"/>
            <a:ext cx="8915400" cy="5363493"/>
          </a:xfrm>
        </p:spPr>
        <p:txBody>
          <a:bodyPr>
            <a:normAutofit/>
          </a:bodyPr>
          <a:lstStyle/>
          <a:p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Η κρυπτογραφία είναι ο επιστημονικός κλάδος που μελετά μεθόδους για την προστασία της πληροφορίας, καθιστώντας την δυσανάγνωστη για μη εξουσιοδοτημένους χρήστες. Η βασική ιδέα είναι ότι ακόμη και αν ένας τρίτος υποκλέψει τα δεδομένα, να μην μπορεί να τα κατανοήσει χωρίς το κατάλληλο "κλειδί". 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00050" lvl="1" indent="0">
              <a:buNone/>
            </a:pPr>
            <a:endParaRPr lang="el-G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00050" lvl="1" indent="0">
              <a:buNone/>
            </a:pPr>
            <a:endParaRPr lang="el-GR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Υπάρχουν δύο κατηγορίες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l-G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Συμμετρική Κρυπτογραφία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Ίδιο κλειδί για κρυπτογράφηση και αποκρυπτογράφηση. Π.χ.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AES,DES,RC4</a:t>
            </a:r>
            <a:endParaRPr lang="el-G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Ασύμμετρη Κρυπτογραφία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Δημόσιο κλειδί για κρυπτογράφηση και ιδιωτικό για αποκρυπτογράφηση. Π.χ.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RSA,ECC </a:t>
            </a:r>
            <a:endParaRPr lang="el-G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Ο AES ανήκει στην κατηγορία συμμετρικής κρυπτογράφησης.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85800" lvl="1">
              <a:buFont typeface="Arial" panose="020B0604020202020204" pitchFamily="34" charset="0"/>
              <a:buChar char="•"/>
            </a:pPr>
            <a:endParaRPr lang="el-G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Εικόνα 6">
            <a:extLst>
              <a:ext uri="{FF2B5EF4-FFF2-40B4-BE49-F238E27FC236}">
                <a16:creationId xmlns:a16="http://schemas.microsoft.com/office/drawing/2014/main" id="{F8CCE2E5-5AFB-088E-54BD-D867BEAD2B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2968" y="2895362"/>
            <a:ext cx="7777316" cy="1529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7836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81B5D-648D-EE30-4247-335EF05F1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E1C14C40-9B34-A8AC-E0EC-79B0D0ADF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z="32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Γιατί η επιλογή του </a:t>
            </a:r>
            <a:r>
              <a:rPr lang="en-US" sz="32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AES;</a:t>
            </a:r>
            <a:br>
              <a:rPr lang="el-GR" dirty="0"/>
            </a:br>
            <a:endParaRPr lang="el-GR" dirty="0"/>
          </a:p>
        </p:txBody>
      </p:sp>
      <p:cxnSp>
        <p:nvCxnSpPr>
          <p:cNvPr id="4" name="Ευθεία γραμμή σύνδεσης 3">
            <a:extLst>
              <a:ext uri="{FF2B5EF4-FFF2-40B4-BE49-F238E27FC236}">
                <a16:creationId xmlns:a16="http://schemas.microsoft.com/office/drawing/2014/main" id="{A0617540-3064-8796-7A93-F4B2EE7D6663}"/>
              </a:ext>
            </a:extLst>
          </p:cNvPr>
          <p:cNvCxnSpPr>
            <a:cxnSpLocks/>
          </p:cNvCxnSpPr>
          <p:nvPr/>
        </p:nvCxnSpPr>
        <p:spPr>
          <a:xfrm>
            <a:off x="2488158" y="1399026"/>
            <a:ext cx="8632126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Θέση περιεχομένου 4">
            <a:extLst>
              <a:ext uri="{FF2B5EF4-FFF2-40B4-BE49-F238E27FC236}">
                <a16:creationId xmlns:a16="http://schemas.microsoft.com/office/drawing/2014/main" id="{DD38DC93-ED9B-321A-7C1C-D3E414409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94507"/>
            <a:ext cx="8915400" cy="5363493"/>
          </a:xfrm>
        </p:spPr>
        <p:txBody>
          <a:bodyPr/>
          <a:lstStyle/>
          <a:p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Ο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AES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αποτελεί το Επίσημο Πρότυπο Κρυπτογράφησης που δημοσιεύτηκε από τον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NIST(National Institute of Standard and Technology)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και αντικατέστησε τον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το 2001.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l-G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Σχεδιάστηκε από τους ερευνητές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Vincent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Rijmen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και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Joan Daemen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l-G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Θεωρείται ένας από τους πιο ασφαλείς και ταχύτερους αλγορίθμους στις μέρες μας.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l-G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Παρέχει υψηλή ασφάλεια με απλή αρχιτεκτονική κατάλληλη για υλοποίηση σε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hardware.</a:t>
            </a: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Ο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AES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χρησιμοποιείται ευρέως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Σε συστήματα επικοινωνίας,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IoT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συσκευές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Σε ασύρματα δίκτυα (π.χ. WPA2/WPA3) 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Σε ψηφιακές συσκευές (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USB encryption, file systems) </a:t>
            </a:r>
            <a:endParaRPr lang="el-G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Στην προστασία δεδομένων κρατικών και στρατιωτικών οργανισμών </a:t>
            </a:r>
          </a:p>
          <a:p>
            <a:pPr marL="685800" lvl="1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85800" lvl="1">
              <a:buFont typeface="Arial" panose="020B0604020202020204" pitchFamily="34" charset="0"/>
              <a:buChar char="•"/>
            </a:pPr>
            <a:endParaRPr lang="el-G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85800" lvl="1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00050" lvl="1" indent="0">
              <a:buNone/>
            </a:pPr>
            <a:endParaRPr lang="el-G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51842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471D2-D773-5FD5-8BD1-52CC17E53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236EF2E5-CDAD-9004-7A46-779DD662F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z="32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Τι είναι το </a:t>
            </a:r>
            <a:r>
              <a:rPr lang="en-US" sz="32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AES;</a:t>
            </a:r>
            <a:br>
              <a:rPr lang="el-GR" dirty="0"/>
            </a:br>
            <a:endParaRPr lang="el-GR" dirty="0"/>
          </a:p>
        </p:txBody>
      </p:sp>
      <p:cxnSp>
        <p:nvCxnSpPr>
          <p:cNvPr id="4" name="Ευθεία γραμμή σύνδεσης 3">
            <a:extLst>
              <a:ext uri="{FF2B5EF4-FFF2-40B4-BE49-F238E27FC236}">
                <a16:creationId xmlns:a16="http://schemas.microsoft.com/office/drawing/2014/main" id="{4CE6F626-CA9D-6271-1C8F-B00427F5A088}"/>
              </a:ext>
            </a:extLst>
          </p:cNvPr>
          <p:cNvCxnSpPr>
            <a:cxnSpLocks/>
          </p:cNvCxnSpPr>
          <p:nvPr/>
        </p:nvCxnSpPr>
        <p:spPr>
          <a:xfrm>
            <a:off x="2488158" y="1399026"/>
            <a:ext cx="8632126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Θέση περιεχομένου 4">
            <a:extLst>
              <a:ext uri="{FF2B5EF4-FFF2-40B4-BE49-F238E27FC236}">
                <a16:creationId xmlns:a16="http://schemas.microsoft.com/office/drawing/2014/main" id="{0CFC8B87-D882-1E23-F43D-D5418B161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94507"/>
            <a:ext cx="8915400" cy="5363493"/>
          </a:xfrm>
        </p:spPr>
        <p:txBody>
          <a:bodyPr/>
          <a:lstStyle/>
          <a:p>
            <a:r>
              <a:rPr lang="el-G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Το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Advanced Encryption Standard(AES)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επίσης γνωστό και ως </a:t>
            </a:r>
            <a:r>
              <a:rPr lang="el-G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Rijndael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είναι ένας συμμετρικός αλγόριθμος κρυπτογράφησης με μήκος μπλοκ 128 </a:t>
            </a:r>
            <a:r>
              <a:rPr lang="el-G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bits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και υποστήριξη μηκών κλειδιού </a:t>
            </a:r>
            <a:r>
              <a:rPr lang="el-G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128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l-G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192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και </a:t>
            </a:r>
            <a:r>
              <a:rPr lang="el-G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256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bits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Το AES ανήκει στη κατηγορία των λεγόμενων </a:t>
            </a:r>
            <a:r>
              <a:rPr lang="el-G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Subtitution-Permutation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NetWorks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(SPN) και χαρακτηρίζεται από την επαναληπτική εφαρμογή ενός συνόλου λειτουργιών σε κάθε γύρο του αλγορίθμου. 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l-G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Εικόνα 5">
            <a:extLst>
              <a:ext uri="{FF2B5EF4-FFF2-40B4-BE49-F238E27FC236}">
                <a16:creationId xmlns:a16="http://schemas.microsoft.com/office/drawing/2014/main" id="{CD5FB9C1-00DD-2AE5-3701-A4AF476921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5923" y="3569110"/>
            <a:ext cx="6646606" cy="3185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1392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56EB6-8183-1340-F998-167902707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BC972137-99C9-4CB5-3327-6313C978B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AES</a:t>
            </a:r>
            <a:r>
              <a:rPr lang="el-GR" sz="32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Cipher - </a:t>
            </a:r>
            <a:r>
              <a:rPr lang="el-GR" sz="32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Κρυπτογράφηση</a:t>
            </a:r>
            <a:br>
              <a:rPr lang="el-GR" dirty="0"/>
            </a:br>
            <a:endParaRPr lang="el-GR" dirty="0"/>
          </a:p>
        </p:txBody>
      </p:sp>
      <p:cxnSp>
        <p:nvCxnSpPr>
          <p:cNvPr id="4" name="Ευθεία γραμμή σύνδεσης 3">
            <a:extLst>
              <a:ext uri="{FF2B5EF4-FFF2-40B4-BE49-F238E27FC236}">
                <a16:creationId xmlns:a16="http://schemas.microsoft.com/office/drawing/2014/main" id="{75961196-B166-8E6C-CFCD-F10349B3111E}"/>
              </a:ext>
            </a:extLst>
          </p:cNvPr>
          <p:cNvCxnSpPr>
            <a:cxnSpLocks/>
          </p:cNvCxnSpPr>
          <p:nvPr/>
        </p:nvCxnSpPr>
        <p:spPr>
          <a:xfrm>
            <a:off x="2488158" y="1399026"/>
            <a:ext cx="8632126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Θέση περιεχομένου 4">
            <a:extLst>
              <a:ext uri="{FF2B5EF4-FFF2-40B4-BE49-F238E27FC236}">
                <a16:creationId xmlns:a16="http://schemas.microsoft.com/office/drawing/2014/main" id="{F052EC8E-D931-E896-B3B9-71B4BB5D6E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94507"/>
            <a:ext cx="8915400" cy="5363493"/>
          </a:xfrm>
        </p:spPr>
        <p:txBody>
          <a:bodyPr/>
          <a:lstStyle/>
          <a:p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Ο αλγόριθμος κρυπτογράφησης χωρίζεται σε τρεις φάσεις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τον </a:t>
            </a:r>
            <a:r>
              <a:rPr lang="el-GR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αρχικό γύρο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τους </a:t>
            </a:r>
            <a:r>
              <a:rPr lang="el-GR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κύριους γύρους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και τον </a:t>
            </a:r>
            <a:r>
              <a:rPr lang="el-GR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τελικό γύρο.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Όλες οι φάσεις χρησιμοποιούν τις ίδιες λειτουργίες με διαφορετικούς συνδυασμούς, όπως μπορούμε να δούμε παρακάτω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0" indent="0">
              <a:buNone/>
            </a:pP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l-G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Αρχικός Γύρος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AddRoundKey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l-G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Κύριους Γύρους(1,2,…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Nr – 1)                </a:t>
            </a:r>
          </a:p>
          <a:p>
            <a:pPr marL="0" indent="0">
              <a:buNone/>
            </a:pP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SubBytes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ShiftRows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MixColumns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AddRoundKey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l-G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Τελικός Γύρος (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Nr)</a:t>
            </a:r>
          </a:p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SubBytes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ShiftRows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AddRoundKey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l-G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Εικόνα 5">
            <a:extLst>
              <a:ext uri="{FF2B5EF4-FFF2-40B4-BE49-F238E27FC236}">
                <a16:creationId xmlns:a16="http://schemas.microsoft.com/office/drawing/2014/main" id="{D22FCFC4-E845-3080-A17F-EC45A46C37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0530" y="2566219"/>
            <a:ext cx="5884244" cy="4060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355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76A31-66B1-2AD3-2324-E3D141DEB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91F6DE27-A5EB-6205-AB01-8C0CAE2D9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State</a:t>
            </a:r>
            <a:r>
              <a:rPr lang="el-GR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(Κατάσταση)</a:t>
            </a:r>
            <a:br>
              <a:rPr lang="el-GR" dirty="0"/>
            </a:br>
            <a:endParaRPr lang="el-GR" dirty="0"/>
          </a:p>
        </p:txBody>
      </p:sp>
      <p:cxnSp>
        <p:nvCxnSpPr>
          <p:cNvPr id="4" name="Ευθεία γραμμή σύνδεσης 3">
            <a:extLst>
              <a:ext uri="{FF2B5EF4-FFF2-40B4-BE49-F238E27FC236}">
                <a16:creationId xmlns:a16="http://schemas.microsoft.com/office/drawing/2014/main" id="{641A1299-5C8E-D6DA-3519-8EED7CEC8E9B}"/>
              </a:ext>
            </a:extLst>
          </p:cNvPr>
          <p:cNvCxnSpPr>
            <a:cxnSpLocks/>
          </p:cNvCxnSpPr>
          <p:nvPr/>
        </p:nvCxnSpPr>
        <p:spPr>
          <a:xfrm>
            <a:off x="2488158" y="1399026"/>
            <a:ext cx="8632126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Θέση περιεχομένου 4">
            <a:extLst>
              <a:ext uri="{FF2B5EF4-FFF2-40B4-BE49-F238E27FC236}">
                <a16:creationId xmlns:a16="http://schemas.microsoft.com/office/drawing/2014/main" id="{B17D840C-A1C7-F959-E34B-10CE0E9C7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94507"/>
            <a:ext cx="8915400" cy="5363493"/>
          </a:xfrm>
        </p:spPr>
        <p:txBody>
          <a:bodyPr/>
          <a:lstStyle/>
          <a:p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Το AES λειτουργεί πάνω σε έναν πίνακα 4 × 4 </a:t>
            </a:r>
            <a:r>
              <a:rPr lang="el-G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bytes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ο οποίος οργανώνεται κατά στήλες και ονομάζεται </a:t>
            </a:r>
            <a:r>
              <a:rPr lang="el-GR" b="1" i="1" u="sng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state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(κατάσταση). Κάθε στήλη του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state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αποτελεί μία </a:t>
            </a:r>
            <a:r>
              <a:rPr lang="el-GR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λέξη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(word).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Για παράδειγμα, όταν υπάρχουν 16 </a:t>
            </a:r>
            <a:r>
              <a:rPr lang="el-G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bytes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αυτά αναπαρίστανται με τη μορφή ενός δισδιάστατου πίνακα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l-G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5" name="Εικόνα 14">
            <a:extLst>
              <a:ext uri="{FF2B5EF4-FFF2-40B4-BE49-F238E27FC236}">
                <a16:creationId xmlns:a16="http://schemas.microsoft.com/office/drawing/2014/main" id="{46DEDDEE-3810-F34A-1F1C-45B40F4C97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6491" y="2679916"/>
            <a:ext cx="6312309" cy="3553974"/>
          </a:xfrm>
          <a:prstGeom prst="rect">
            <a:avLst/>
          </a:prstGeom>
        </p:spPr>
      </p:pic>
      <p:sp>
        <p:nvSpPr>
          <p:cNvPr id="8" name="Βέλος: Αριστερό-δεξιό 7">
            <a:extLst>
              <a:ext uri="{FF2B5EF4-FFF2-40B4-BE49-F238E27FC236}">
                <a16:creationId xmlns:a16="http://schemas.microsoft.com/office/drawing/2014/main" id="{4C7A857B-8DE2-EB63-E767-2F616DE577B4}"/>
              </a:ext>
            </a:extLst>
          </p:cNvPr>
          <p:cNvSpPr/>
          <p:nvPr/>
        </p:nvSpPr>
        <p:spPr>
          <a:xfrm>
            <a:off x="7128387" y="5201265"/>
            <a:ext cx="1150374" cy="257709"/>
          </a:xfrm>
          <a:prstGeom prst="left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pic>
        <p:nvPicPr>
          <p:cNvPr id="10" name="Εικόνα 9">
            <a:extLst>
              <a:ext uri="{FF2B5EF4-FFF2-40B4-BE49-F238E27FC236}">
                <a16:creationId xmlns:a16="http://schemas.microsoft.com/office/drawing/2014/main" id="{53D08E75-F77B-E685-F23C-EA63C4E8A1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9051" y="4164996"/>
            <a:ext cx="3414056" cy="2330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8541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49ED0-9B03-AC46-352C-560370136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311E03B3-1FC1-962E-63AE-6CC9DB076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z="32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Λειτουργίες </a:t>
            </a:r>
            <a:r>
              <a:rPr lang="en-US" sz="32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AES</a:t>
            </a:r>
            <a:r>
              <a:rPr lang="el-GR" sz="32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Cipher</a:t>
            </a:r>
            <a:br>
              <a:rPr lang="el-GR" dirty="0"/>
            </a:br>
            <a:endParaRPr lang="el-GR" dirty="0"/>
          </a:p>
        </p:txBody>
      </p:sp>
      <p:cxnSp>
        <p:nvCxnSpPr>
          <p:cNvPr id="4" name="Ευθεία γραμμή σύνδεσης 3">
            <a:extLst>
              <a:ext uri="{FF2B5EF4-FFF2-40B4-BE49-F238E27FC236}">
                <a16:creationId xmlns:a16="http://schemas.microsoft.com/office/drawing/2014/main" id="{67EDAD96-6EEF-9B48-9F75-37B06ADFC9BA}"/>
              </a:ext>
            </a:extLst>
          </p:cNvPr>
          <p:cNvCxnSpPr>
            <a:cxnSpLocks/>
          </p:cNvCxnSpPr>
          <p:nvPr/>
        </p:nvCxnSpPr>
        <p:spPr>
          <a:xfrm>
            <a:off x="2488158" y="1399026"/>
            <a:ext cx="8632126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Θέση περιεχομένου 4">
            <a:extLst>
              <a:ext uri="{FF2B5EF4-FFF2-40B4-BE49-F238E27FC236}">
                <a16:creationId xmlns:a16="http://schemas.microsoft.com/office/drawing/2014/main" id="{DFB12D1B-4024-8902-E839-9727861DB6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94507"/>
            <a:ext cx="9524130" cy="5363493"/>
          </a:xfrm>
        </p:spPr>
        <p:txBody>
          <a:bodyPr/>
          <a:lstStyle/>
          <a:p>
            <a:r>
              <a:rPr lang="en-US" b="1" u="sng" dirty="0" err="1">
                <a:solidFill>
                  <a:srgbClr val="E088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AddRoundKey</a:t>
            </a:r>
            <a:r>
              <a:rPr lang="en-US" b="1" u="sng" dirty="0">
                <a:solidFill>
                  <a:srgbClr val="E088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Αποτελεί την πρώτη από τις τέσσερις βασικές λειτουργίες του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AES Cipher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και</a:t>
            </a:r>
            <a:r>
              <a:rPr lang="el-GR" dirty="0"/>
              <a:t>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είναι αυτή που εισάγει το κρυπτογραφικό κλειδί στην επεξεργασία του αλγορίθμου. Σε κάθε γύρο του AES, εφαρμόζεται μία πράξη </a:t>
            </a:r>
            <a:r>
              <a:rPr lang="el-G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bitwise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XOR(⊕) ανάμεσα στην κατάσταση </a:t>
            </a:r>
            <a:r>
              <a:rPr lang="el-G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state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και το αντίστοιχο </a:t>
            </a:r>
            <a:r>
              <a:rPr lang="el-G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υποκλειδί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του γύρου(</a:t>
            </a:r>
            <a:r>
              <a:rPr lang="el-G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round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), το οποίο έχει παραχθεί μέσω της διαδικασίας </a:t>
            </a:r>
            <a:r>
              <a:rPr lang="el-G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KeyExpansion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l-GR" dirty="0"/>
              <a:t>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Συγκεκριμένα, κάθε </a:t>
            </a:r>
            <a:r>
              <a:rPr lang="el-G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round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αποτελείται από τέσσερις λέξεις(128-bit)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l-G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</a:t>
            </a: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Π.χ.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													</a:t>
            </a:r>
          </a:p>
        </p:txBody>
      </p:sp>
      <p:pic>
        <p:nvPicPr>
          <p:cNvPr id="6" name="Εικόνα 5">
            <a:extLst>
              <a:ext uri="{FF2B5EF4-FFF2-40B4-BE49-F238E27FC236}">
                <a16:creationId xmlns:a16="http://schemas.microsoft.com/office/drawing/2014/main" id="{2EC733D1-980B-FFD9-F305-927D421BE4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3995" y="3119432"/>
            <a:ext cx="5814564" cy="2013008"/>
          </a:xfrm>
          <a:prstGeom prst="rect">
            <a:avLst/>
          </a:prstGeom>
        </p:spPr>
      </p:pic>
      <p:pic>
        <p:nvPicPr>
          <p:cNvPr id="8" name="Εικόνα 7">
            <a:extLst>
              <a:ext uri="{FF2B5EF4-FFF2-40B4-BE49-F238E27FC236}">
                <a16:creationId xmlns:a16="http://schemas.microsoft.com/office/drawing/2014/main" id="{730D36A1-65F4-9BA3-BB64-EDF922A3BD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832" y="5526545"/>
            <a:ext cx="5427407" cy="95258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CDA2DCC-D654-9CE9-A123-B2C9E75BF69C}"/>
              </a:ext>
            </a:extLst>
          </p:cNvPr>
          <p:cNvSpPr txBox="1"/>
          <p:nvPr/>
        </p:nvSpPr>
        <p:spPr>
          <a:xfrm>
            <a:off x="10616381" y="5120420"/>
            <a:ext cx="14969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6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Πράξη </a:t>
            </a:r>
            <a:r>
              <a:rPr lang="en-US" sz="16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XOR</a:t>
            </a:r>
            <a:endParaRPr lang="el-GR" sz="1600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" name="Εικόνα 10">
            <a:extLst>
              <a:ext uri="{FF2B5EF4-FFF2-40B4-BE49-F238E27FC236}">
                <a16:creationId xmlns:a16="http://schemas.microsoft.com/office/drawing/2014/main" id="{AD96CCF2-CAA3-5722-BC31-48A236161C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6385" y="5554454"/>
            <a:ext cx="1143099" cy="975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372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36236-E104-7B96-AB1A-DD0B5666D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D3D5FA85-21E4-50B9-900B-FC6B53723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z="32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Λειτουργίες </a:t>
            </a:r>
            <a:r>
              <a:rPr lang="en-US" sz="32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AES</a:t>
            </a:r>
            <a:r>
              <a:rPr lang="el-GR" sz="32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Cipher</a:t>
            </a:r>
            <a:br>
              <a:rPr lang="el-GR" dirty="0"/>
            </a:br>
            <a:endParaRPr lang="el-GR" dirty="0"/>
          </a:p>
        </p:txBody>
      </p:sp>
      <p:cxnSp>
        <p:nvCxnSpPr>
          <p:cNvPr id="4" name="Ευθεία γραμμή σύνδεσης 3">
            <a:extLst>
              <a:ext uri="{FF2B5EF4-FFF2-40B4-BE49-F238E27FC236}">
                <a16:creationId xmlns:a16="http://schemas.microsoft.com/office/drawing/2014/main" id="{F1F5DD03-3EB4-A701-12FE-9A345773D4EC}"/>
              </a:ext>
            </a:extLst>
          </p:cNvPr>
          <p:cNvCxnSpPr>
            <a:cxnSpLocks/>
          </p:cNvCxnSpPr>
          <p:nvPr/>
        </p:nvCxnSpPr>
        <p:spPr>
          <a:xfrm>
            <a:off x="2488158" y="1399026"/>
            <a:ext cx="8632126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Θέση περιεχομένου 4">
            <a:extLst>
              <a:ext uri="{FF2B5EF4-FFF2-40B4-BE49-F238E27FC236}">
                <a16:creationId xmlns:a16="http://schemas.microsoft.com/office/drawing/2014/main" id="{B348A49E-543D-2DAA-7EBD-C3AEEA28E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94507"/>
            <a:ext cx="8915400" cy="5363493"/>
          </a:xfrm>
        </p:spPr>
        <p:txBody>
          <a:bodyPr/>
          <a:lstStyle/>
          <a:p>
            <a:r>
              <a:rPr lang="en-US" b="1" u="sng" dirty="0" err="1">
                <a:solidFill>
                  <a:srgbClr val="E088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SubBytes</a:t>
            </a:r>
            <a:r>
              <a:rPr lang="en-US" b="1" u="sng" dirty="0">
                <a:solidFill>
                  <a:srgbClr val="E088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Πρόκειται για το δεύτερο στάδιο μετασχηματισμού κάθε γύρου του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AES Cipher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Αποτελεί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ένα μη γραμμικό στάδιο αντικατάστασης, κατά το οποίο κάθε στοιχείο (</a:t>
            </a:r>
            <a:r>
              <a:rPr lang="el-G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byte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του τρέχοντος πίνακα κατάστασης αντικαθίσταται από το αντίστοιχο στοιχείο του </a:t>
            </a:r>
            <a:r>
              <a:rPr lang="el-G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AES S-</a:t>
            </a:r>
            <a:r>
              <a:rPr lang="el-GR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Box</a:t>
            </a:r>
            <a:r>
              <a:rPr lang="el-GR" b="1" i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(Πίνακας </a:t>
            </a:r>
            <a:r>
              <a:rPr lang="en-US" b="1" i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S-box(</a:t>
            </a:r>
            <a:r>
              <a:rPr lang="en-US" b="1" i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SubBytes</a:t>
            </a:r>
            <a:r>
              <a:rPr lang="el-GR" b="1" i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).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Για παράδειγμα, το </a:t>
            </a:r>
            <a:r>
              <a:rPr lang="el-G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byte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(6E)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αντικαθίσταται από το στοιχείο του </a:t>
            </a:r>
            <a:r>
              <a:rPr lang="el-G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S-</a:t>
            </a:r>
            <a:r>
              <a:rPr lang="el-GR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Box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που βρίσκεται στη </a:t>
            </a:r>
            <a:r>
              <a:rPr lang="el-G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γραμμή 6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και τη </a:t>
            </a:r>
            <a:r>
              <a:rPr lang="el-G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στήλη E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δηλαδή από το </a:t>
            </a:r>
            <a:r>
              <a:rPr lang="el-G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(9F)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0" indent="0">
              <a:buNone/>
            </a:pP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π.χ.          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l-G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Εικόνα 8">
            <a:extLst>
              <a:ext uri="{FF2B5EF4-FFF2-40B4-BE49-F238E27FC236}">
                <a16:creationId xmlns:a16="http://schemas.microsoft.com/office/drawing/2014/main" id="{661B8384-932B-866C-A508-100C3BECDD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3406" y="3183195"/>
            <a:ext cx="7059561" cy="3539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7748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40C43-2083-AB21-35BE-39FF37926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454C1794-701A-21E7-754A-6380486CA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z="32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Λειτουργίες </a:t>
            </a:r>
            <a:r>
              <a:rPr lang="en-US" sz="32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AES</a:t>
            </a:r>
            <a:r>
              <a:rPr lang="el-GR" sz="32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Cipher</a:t>
            </a:r>
            <a:br>
              <a:rPr lang="el-GR" dirty="0"/>
            </a:br>
            <a:endParaRPr lang="el-GR" dirty="0"/>
          </a:p>
        </p:txBody>
      </p:sp>
      <p:cxnSp>
        <p:nvCxnSpPr>
          <p:cNvPr id="4" name="Ευθεία γραμμή σύνδεσης 3">
            <a:extLst>
              <a:ext uri="{FF2B5EF4-FFF2-40B4-BE49-F238E27FC236}">
                <a16:creationId xmlns:a16="http://schemas.microsoft.com/office/drawing/2014/main" id="{CAF66505-96AD-BA78-A171-A3D79C10F482}"/>
              </a:ext>
            </a:extLst>
          </p:cNvPr>
          <p:cNvCxnSpPr>
            <a:cxnSpLocks/>
          </p:cNvCxnSpPr>
          <p:nvPr/>
        </p:nvCxnSpPr>
        <p:spPr>
          <a:xfrm>
            <a:off x="2488158" y="1399026"/>
            <a:ext cx="8632126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Θέση περιεχομένου 4">
            <a:extLst>
              <a:ext uri="{FF2B5EF4-FFF2-40B4-BE49-F238E27FC236}">
                <a16:creationId xmlns:a16="http://schemas.microsoft.com/office/drawing/2014/main" id="{D97F43EC-22BC-51F0-EC6E-BFE0115B14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94507"/>
            <a:ext cx="9376646" cy="5363493"/>
          </a:xfrm>
        </p:spPr>
        <p:txBody>
          <a:bodyPr/>
          <a:lstStyle/>
          <a:p>
            <a:r>
              <a:rPr lang="en-US" b="1" u="sng" dirty="0" err="1">
                <a:solidFill>
                  <a:srgbClr val="E088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ShiftRows</a:t>
            </a:r>
            <a:r>
              <a:rPr lang="en-US" b="1" u="sng" dirty="0">
                <a:solidFill>
                  <a:srgbClr val="E088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Πρόκειται για το τρίτο στάδιο μετασχηματισμού κάθε γύρου του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AES Cipher,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το οποίο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μετατοπίζει </a:t>
            </a:r>
            <a:r>
              <a:rPr lang="el-G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κυκλικά προς τα αριστερά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τις γραμμές του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state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με μετατόπιση ίση με τον αριθμό της γραμμής: 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Την γραμμή 0 → 0 θέσεις άρα καμία μετατόπιση</a:t>
            </a:r>
          </a:p>
          <a:p>
            <a:pPr marL="400050" lvl="1" indent="0">
              <a:buNone/>
            </a:pP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Την γραμμή 1 → 1 θέση αριστερά </a:t>
            </a:r>
          </a:p>
          <a:p>
            <a:pPr marL="400050" lvl="1" indent="0">
              <a:buNone/>
            </a:pPr>
            <a:endParaRPr lang="el-G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Την γραμμή 2 → 2 θέσεις αριστερά </a:t>
            </a:r>
          </a:p>
          <a:p>
            <a:pPr marL="685800" lvl="1">
              <a:buFont typeface="Arial" panose="020B0604020202020204" pitchFamily="34" charset="0"/>
              <a:buChar char="•"/>
            </a:pPr>
            <a:endParaRPr lang="el-G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Την γραμμή 3 → 3 θέσεις αριστερά 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π.χ.      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l-G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Εικόνα 5">
            <a:extLst>
              <a:ext uri="{FF2B5EF4-FFF2-40B4-BE49-F238E27FC236}">
                <a16:creationId xmlns:a16="http://schemas.microsoft.com/office/drawing/2014/main" id="{2B7139E1-2D27-F092-540C-85EFD3FB66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9468" y="2389239"/>
            <a:ext cx="4546389" cy="2563762"/>
          </a:xfrm>
          <a:prstGeom prst="rect">
            <a:avLst/>
          </a:prstGeom>
        </p:spPr>
      </p:pic>
      <p:pic>
        <p:nvPicPr>
          <p:cNvPr id="8" name="Εικόνα 7">
            <a:extLst>
              <a:ext uri="{FF2B5EF4-FFF2-40B4-BE49-F238E27FC236}">
                <a16:creationId xmlns:a16="http://schemas.microsoft.com/office/drawing/2014/main" id="{0A111F75-82D4-691D-9640-242E77C404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3653" y="5406347"/>
            <a:ext cx="3652192" cy="1280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7978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529ED-E546-0ADA-03BA-39DDCA7DC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144109BD-6F49-B7EF-D19C-60028C391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z="32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Λειτουργίες </a:t>
            </a:r>
            <a:r>
              <a:rPr lang="en-US" sz="32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AES</a:t>
            </a:r>
            <a:r>
              <a:rPr lang="el-GR" sz="32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Cipher</a:t>
            </a:r>
            <a:br>
              <a:rPr lang="el-GR" dirty="0"/>
            </a:br>
            <a:endParaRPr lang="el-GR" dirty="0"/>
          </a:p>
        </p:txBody>
      </p:sp>
      <p:cxnSp>
        <p:nvCxnSpPr>
          <p:cNvPr id="4" name="Ευθεία γραμμή σύνδεσης 3">
            <a:extLst>
              <a:ext uri="{FF2B5EF4-FFF2-40B4-BE49-F238E27FC236}">
                <a16:creationId xmlns:a16="http://schemas.microsoft.com/office/drawing/2014/main" id="{6D05CD0F-CF5E-D7EA-58D9-DB997FAB550A}"/>
              </a:ext>
            </a:extLst>
          </p:cNvPr>
          <p:cNvCxnSpPr>
            <a:cxnSpLocks/>
          </p:cNvCxnSpPr>
          <p:nvPr/>
        </p:nvCxnSpPr>
        <p:spPr>
          <a:xfrm>
            <a:off x="2488158" y="1399026"/>
            <a:ext cx="8632126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Θέση περιεχομένου 4">
            <a:extLst>
              <a:ext uri="{FF2B5EF4-FFF2-40B4-BE49-F238E27FC236}">
                <a16:creationId xmlns:a16="http://schemas.microsoft.com/office/drawing/2014/main" id="{633148B8-AEF1-D398-C825-419ED6AE5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94507"/>
            <a:ext cx="9524130" cy="5363493"/>
          </a:xfrm>
        </p:spPr>
        <p:txBody>
          <a:bodyPr/>
          <a:lstStyle/>
          <a:p>
            <a:r>
              <a:rPr lang="en-US" b="1" u="sng" dirty="0" err="1">
                <a:solidFill>
                  <a:srgbClr val="E088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MixColumns</a:t>
            </a:r>
            <a:r>
              <a:rPr lang="en-US" b="1" u="sng" dirty="0">
                <a:solidFill>
                  <a:srgbClr val="E088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Πρόκειται για το τέταρτο στάδιο μετασχηματισμού κάθε γύρου του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AES Cipher(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εκτός του τελευταίου). Αποτελεί έναν γραμμικό μετασχηματισμό που εφαρμόζεται σε κάθε στήλη του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state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Συγκεκριμένα, η κάθε στήλη πολλαπλασιάζεται με ένα σταθερό πίνακα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l-G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</a:t>
            </a:r>
            <a:endParaRPr lang="el-G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l-G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Έτσι, υπολογισμός του εκάστοτε μετασχηματισμένου </a:t>
            </a:r>
            <a:r>
              <a:rPr lang="el-G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byte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προκύπτει από τις παρακάτω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	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πράξεις: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l-G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</a:t>
            </a:r>
          </a:p>
          <a:p>
            <a:pPr marL="0" indent="0">
              <a:buNone/>
            </a:pP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Σε αντίθεση με τον κλασικό πολλαπλασιασμό πινάκων, η λειτουργία </a:t>
            </a:r>
            <a:r>
              <a:rPr lang="el-GR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MixColumns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εκτελεί τον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πολλαπλασιασμό σύμφωνα με τους κανόνες του </a:t>
            </a:r>
            <a:r>
              <a:rPr lang="el-G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πεδίου </a:t>
            </a:r>
            <a:r>
              <a:rPr lang="el-GR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Galois</a:t>
            </a:r>
            <a:r>
              <a:rPr lang="el-G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(2⁸)</a:t>
            </a:r>
            <a:r>
              <a:rPr lang="el-GR" b="1" i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l-GR" b="1" i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Λειτουργία </a:t>
            </a:r>
            <a:r>
              <a:rPr lang="en-US" b="1" i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xtimes</a:t>
            </a:r>
            <a:r>
              <a:rPr lang="el-GR" b="1" i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l-GR" b="1" i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Π.χ.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</a:t>
            </a:r>
            <a:endParaRPr lang="el-G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Εικόνα 11">
            <a:extLst>
              <a:ext uri="{FF2B5EF4-FFF2-40B4-BE49-F238E27FC236}">
                <a16:creationId xmlns:a16="http://schemas.microsoft.com/office/drawing/2014/main" id="{E5F5E33B-48F5-D8CE-047C-DC5D59802D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2060" y="3782722"/>
            <a:ext cx="3904322" cy="1280890"/>
          </a:xfrm>
          <a:prstGeom prst="rect">
            <a:avLst/>
          </a:prstGeom>
        </p:spPr>
      </p:pic>
      <p:pic>
        <p:nvPicPr>
          <p:cNvPr id="14" name="Εικόνα 13">
            <a:extLst>
              <a:ext uri="{FF2B5EF4-FFF2-40B4-BE49-F238E27FC236}">
                <a16:creationId xmlns:a16="http://schemas.microsoft.com/office/drawing/2014/main" id="{4D3C5AD5-E56F-8AAA-31F8-CD958048B4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2123" y="2471915"/>
            <a:ext cx="4153289" cy="812060"/>
          </a:xfrm>
          <a:prstGeom prst="rect">
            <a:avLst/>
          </a:prstGeom>
        </p:spPr>
      </p:pic>
      <p:pic>
        <p:nvPicPr>
          <p:cNvPr id="16" name="Εικόνα 15">
            <a:extLst>
              <a:ext uri="{FF2B5EF4-FFF2-40B4-BE49-F238E27FC236}">
                <a16:creationId xmlns:a16="http://schemas.microsoft.com/office/drawing/2014/main" id="{17317392-9188-92B2-C0BC-0A4DA12C52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8039" y="5740616"/>
            <a:ext cx="5279922" cy="1117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97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64792-BFBF-F8D5-B1D9-9DE6B6469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F5BA7BA6-237B-8586-91CB-4048D0228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err="1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KeyExpansion</a:t>
            </a:r>
            <a:r>
              <a:rPr lang="en-US" sz="32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</a:t>
            </a:r>
            <a:r>
              <a:rPr lang="el-GR" sz="32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Παραγωγή Κλειδιών Γύρου</a:t>
            </a:r>
            <a:br>
              <a:rPr lang="el-GR" dirty="0"/>
            </a:br>
            <a:endParaRPr lang="el-GR" dirty="0"/>
          </a:p>
        </p:txBody>
      </p:sp>
      <p:cxnSp>
        <p:nvCxnSpPr>
          <p:cNvPr id="4" name="Ευθεία γραμμή σύνδεσης 3">
            <a:extLst>
              <a:ext uri="{FF2B5EF4-FFF2-40B4-BE49-F238E27FC236}">
                <a16:creationId xmlns:a16="http://schemas.microsoft.com/office/drawing/2014/main" id="{2A9DD891-D8FD-8FF4-2916-5907EBCAA0FC}"/>
              </a:ext>
            </a:extLst>
          </p:cNvPr>
          <p:cNvCxnSpPr>
            <a:cxnSpLocks/>
          </p:cNvCxnSpPr>
          <p:nvPr/>
        </p:nvCxnSpPr>
        <p:spPr>
          <a:xfrm>
            <a:off x="2488158" y="1399026"/>
            <a:ext cx="8632126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Θέση περιεχομένου 4">
            <a:extLst>
              <a:ext uri="{FF2B5EF4-FFF2-40B4-BE49-F238E27FC236}">
                <a16:creationId xmlns:a16="http://schemas.microsoft.com/office/drawing/2014/main" id="{51513FF4-A7F0-D1A1-A595-0ACE19D8A7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94507"/>
            <a:ext cx="9524130" cy="5437235"/>
          </a:xfrm>
        </p:spPr>
        <p:txBody>
          <a:bodyPr>
            <a:normAutofit/>
          </a:bodyPr>
          <a:lstStyle/>
          <a:p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Η λειτουργία </a:t>
            </a:r>
            <a:r>
              <a:rPr lang="el-GR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KeyExpansion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είναι θεμελιώδης στον αλγόριθμο AES, καθώς αναλαμβάνει την παραγωγή όλων των κλειδιών γύρου(</a:t>
            </a:r>
            <a:r>
              <a:rPr lang="el-G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RoundKeys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από το αρχικό μυστικό κλειδί. Κάθε κλειδί γύρου χρησιμοποιείται στο τέλος κάθε γύρου μέσω της λειτουργίας </a:t>
            </a:r>
            <a:r>
              <a:rPr lang="el-G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AddRoundKey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Κάθε νέο κλειδί γύρου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RoundKey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προκύπτει από μετασχηματισμούς του προηγούμενου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Συγκεκριμένα οι λειτουργίες που χρησιμοποιούνται είναι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Η </a:t>
            </a:r>
            <a:r>
              <a:rPr lang="en-US" b="1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RotWord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κυκλική μετατόπιση ενός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byte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προς τα αριστερά                  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Η </a:t>
            </a:r>
            <a:r>
              <a:rPr lang="en-US" b="1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SubWord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αντικατάσταση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bytes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μέσω του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sbox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Οι </a:t>
            </a:r>
            <a:r>
              <a:rPr lang="en-US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Round Constants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ένας πίνακας ο οποίος συμβολίζεται με </a:t>
            </a:r>
            <a:r>
              <a:rPr lang="el-GR" b="1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Rcon</a:t>
            </a:r>
            <a:r>
              <a:rPr lang="el-GR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[j]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όπου 1 ≤ j ≤ 10 και περιλαμβάνει 10 σταθερές λέξεις										               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AES-128: 10</a:t>
            </a:r>
          </a:p>
          <a:p>
            <a:pPr marL="457200" lvl="1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												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AES-192: 8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πρώτα</a:t>
            </a:r>
          </a:p>
          <a:p>
            <a:pPr marL="457200" lvl="1" indent="0">
              <a:buNone/>
            </a:pP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													     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AES-256: 7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πρώτα </a:t>
            </a:r>
          </a:p>
        </p:txBody>
      </p:sp>
      <p:pic>
        <p:nvPicPr>
          <p:cNvPr id="6" name="Εικόνα 5">
            <a:extLst>
              <a:ext uri="{FF2B5EF4-FFF2-40B4-BE49-F238E27FC236}">
                <a16:creationId xmlns:a16="http://schemas.microsoft.com/office/drawing/2014/main" id="{9B4A9108-5283-511F-78D9-3AD5FB4799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3179" y="2598348"/>
            <a:ext cx="7811177" cy="1417784"/>
          </a:xfrm>
          <a:prstGeom prst="rect">
            <a:avLst/>
          </a:prstGeom>
        </p:spPr>
      </p:pic>
      <p:pic>
        <p:nvPicPr>
          <p:cNvPr id="8" name="Εικόνα 7">
            <a:extLst>
              <a:ext uri="{FF2B5EF4-FFF2-40B4-BE49-F238E27FC236}">
                <a16:creationId xmlns:a16="http://schemas.microsoft.com/office/drawing/2014/main" id="{116AE787-152E-8802-ED65-B12BD3C50D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0393" y="4699223"/>
            <a:ext cx="723963" cy="350550"/>
          </a:xfrm>
          <a:prstGeom prst="rect">
            <a:avLst/>
          </a:prstGeom>
        </p:spPr>
      </p:pic>
      <p:pic>
        <p:nvPicPr>
          <p:cNvPr id="10" name="Εικόνα 9">
            <a:extLst>
              <a:ext uri="{FF2B5EF4-FFF2-40B4-BE49-F238E27FC236}">
                <a16:creationId xmlns:a16="http://schemas.microsoft.com/office/drawing/2014/main" id="{04C534E6-56D8-EBB1-A81C-05E046A5C1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7380" y="4783650"/>
            <a:ext cx="1623201" cy="205758"/>
          </a:xfrm>
          <a:prstGeom prst="rect">
            <a:avLst/>
          </a:prstGeom>
        </p:spPr>
      </p:pic>
      <p:pic>
        <p:nvPicPr>
          <p:cNvPr id="12" name="Εικόνα 11">
            <a:extLst>
              <a:ext uri="{FF2B5EF4-FFF2-40B4-BE49-F238E27FC236}">
                <a16:creationId xmlns:a16="http://schemas.microsoft.com/office/drawing/2014/main" id="{AB48A897-7706-B77C-E8AC-9DA6B51109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54356" y="4802701"/>
            <a:ext cx="876376" cy="167655"/>
          </a:xfrm>
          <a:prstGeom prst="rect">
            <a:avLst/>
          </a:prstGeom>
        </p:spPr>
      </p:pic>
      <p:pic>
        <p:nvPicPr>
          <p:cNvPr id="14" name="Εικόνα 13">
            <a:extLst>
              <a:ext uri="{FF2B5EF4-FFF2-40B4-BE49-F238E27FC236}">
                <a16:creationId xmlns:a16="http://schemas.microsoft.com/office/drawing/2014/main" id="{5043298B-9EFE-9DFC-722A-5757D0A59A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55256" y="5185831"/>
            <a:ext cx="4458086" cy="167655"/>
          </a:xfrm>
          <a:prstGeom prst="rect">
            <a:avLst/>
          </a:prstGeom>
        </p:spPr>
      </p:pic>
      <p:pic>
        <p:nvPicPr>
          <p:cNvPr id="16" name="Εικόνα 15">
            <a:extLst>
              <a:ext uri="{FF2B5EF4-FFF2-40B4-BE49-F238E27FC236}">
                <a16:creationId xmlns:a16="http://schemas.microsoft.com/office/drawing/2014/main" id="{12F4D669-EB48-2E62-04B7-4A4BC6553C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6891" y="6075418"/>
            <a:ext cx="5448772" cy="467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2461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E6087-AC25-2BB5-0A18-9B649215F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9D26B32-3051-915A-D4A1-CD023271C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err="1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KeyExpansion</a:t>
            </a:r>
            <a:r>
              <a:rPr lang="en-US" sz="32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</a:t>
            </a:r>
            <a:r>
              <a:rPr lang="el-GR" sz="32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Απεικόνιση Λειτουργιών</a:t>
            </a:r>
            <a:br>
              <a:rPr lang="el-GR" dirty="0"/>
            </a:br>
            <a:endParaRPr lang="el-GR" dirty="0"/>
          </a:p>
        </p:txBody>
      </p:sp>
      <p:cxnSp>
        <p:nvCxnSpPr>
          <p:cNvPr id="4" name="Ευθεία γραμμή σύνδεσης 3">
            <a:extLst>
              <a:ext uri="{FF2B5EF4-FFF2-40B4-BE49-F238E27FC236}">
                <a16:creationId xmlns:a16="http://schemas.microsoft.com/office/drawing/2014/main" id="{0F603927-1638-114F-EBC6-521BA10D5BB1}"/>
              </a:ext>
            </a:extLst>
          </p:cNvPr>
          <p:cNvCxnSpPr>
            <a:cxnSpLocks/>
          </p:cNvCxnSpPr>
          <p:nvPr/>
        </p:nvCxnSpPr>
        <p:spPr>
          <a:xfrm>
            <a:off x="2488158" y="1399026"/>
            <a:ext cx="8632126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Θέση περιεχομένου 6">
            <a:extLst>
              <a:ext uri="{FF2B5EF4-FFF2-40B4-BE49-F238E27FC236}">
                <a16:creationId xmlns:a16="http://schemas.microsoft.com/office/drawing/2014/main" id="{777C7F4F-472E-8469-C160-35CCFF5EB6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07101" y="1671486"/>
            <a:ext cx="2833494" cy="4562403"/>
          </a:xfrm>
          <a:prstGeom prst="rect">
            <a:avLst/>
          </a:prstGeom>
        </p:spPr>
      </p:pic>
      <p:pic>
        <p:nvPicPr>
          <p:cNvPr id="11" name="Εικόνα 10">
            <a:extLst>
              <a:ext uri="{FF2B5EF4-FFF2-40B4-BE49-F238E27FC236}">
                <a16:creationId xmlns:a16="http://schemas.microsoft.com/office/drawing/2014/main" id="{A7669645-3DD5-B600-6CE2-CDC97B0E62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9680" y="1602662"/>
            <a:ext cx="2833495" cy="4562400"/>
          </a:xfrm>
          <a:prstGeom prst="rect">
            <a:avLst/>
          </a:prstGeom>
        </p:spPr>
      </p:pic>
      <p:pic>
        <p:nvPicPr>
          <p:cNvPr id="15" name="Εικόνα 14">
            <a:extLst>
              <a:ext uri="{FF2B5EF4-FFF2-40B4-BE49-F238E27FC236}">
                <a16:creationId xmlns:a16="http://schemas.microsoft.com/office/drawing/2014/main" id="{C3C439B7-8948-AD41-9BAD-0AC13D4DC6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2260" y="1602662"/>
            <a:ext cx="3639740" cy="4444174"/>
          </a:xfrm>
          <a:prstGeom prst="rect">
            <a:avLst/>
          </a:prstGeom>
        </p:spPr>
      </p:pic>
      <p:pic>
        <p:nvPicPr>
          <p:cNvPr id="18" name="Εικόνα 17">
            <a:extLst>
              <a:ext uri="{FF2B5EF4-FFF2-40B4-BE49-F238E27FC236}">
                <a16:creationId xmlns:a16="http://schemas.microsoft.com/office/drawing/2014/main" id="{1C9F4992-8745-F690-CB21-D94E3813C1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75934" y="6233890"/>
            <a:ext cx="2095827" cy="213499"/>
          </a:xfrm>
          <a:prstGeom prst="rect">
            <a:avLst/>
          </a:prstGeom>
        </p:spPr>
      </p:pic>
      <p:pic>
        <p:nvPicPr>
          <p:cNvPr id="20" name="Εικόνα 19">
            <a:extLst>
              <a:ext uri="{FF2B5EF4-FFF2-40B4-BE49-F238E27FC236}">
                <a16:creationId xmlns:a16="http://schemas.microsoft.com/office/drawing/2014/main" id="{24048550-AD96-09A0-733E-246EC1CA6C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5351" y="6233889"/>
            <a:ext cx="2312112" cy="213499"/>
          </a:xfrm>
          <a:prstGeom prst="rect">
            <a:avLst/>
          </a:prstGeom>
        </p:spPr>
      </p:pic>
      <p:pic>
        <p:nvPicPr>
          <p:cNvPr id="22" name="Εικόνα 21">
            <a:extLst>
              <a:ext uri="{FF2B5EF4-FFF2-40B4-BE49-F238E27FC236}">
                <a16:creationId xmlns:a16="http://schemas.microsoft.com/office/drawing/2014/main" id="{289BE55F-2541-BC40-7A37-7B0CD5B446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88048" y="6233888"/>
            <a:ext cx="2568163" cy="21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4790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C0898-05DD-80DF-1CAB-813843EA0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4CCB2B5D-D185-6F52-76E4-28743E5DF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err="1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KeyExpansion</a:t>
            </a:r>
            <a:r>
              <a:rPr lang="en-US" sz="32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</a:t>
            </a:r>
            <a:r>
              <a:rPr lang="el-GR" sz="32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Παράδειγμα για </a:t>
            </a:r>
            <a:r>
              <a:rPr lang="en-US" sz="32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AES-128</a:t>
            </a:r>
            <a:br>
              <a:rPr lang="el-GR" dirty="0"/>
            </a:br>
            <a:endParaRPr lang="el-GR" dirty="0"/>
          </a:p>
        </p:txBody>
      </p:sp>
      <p:cxnSp>
        <p:nvCxnSpPr>
          <p:cNvPr id="4" name="Ευθεία γραμμή σύνδεσης 3">
            <a:extLst>
              <a:ext uri="{FF2B5EF4-FFF2-40B4-BE49-F238E27FC236}">
                <a16:creationId xmlns:a16="http://schemas.microsoft.com/office/drawing/2014/main" id="{97F4D891-62D1-BF78-2534-AEEFDD72964B}"/>
              </a:ext>
            </a:extLst>
          </p:cNvPr>
          <p:cNvCxnSpPr>
            <a:cxnSpLocks/>
          </p:cNvCxnSpPr>
          <p:nvPr/>
        </p:nvCxnSpPr>
        <p:spPr>
          <a:xfrm>
            <a:off x="2488158" y="1399026"/>
            <a:ext cx="8632126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Θέση περιεχομένου 4">
            <a:extLst>
              <a:ext uri="{FF2B5EF4-FFF2-40B4-BE49-F238E27FC236}">
                <a16:creationId xmlns:a16="http://schemas.microsoft.com/office/drawing/2014/main" id="{D77A436A-3F8B-502F-504E-D38B5895B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02659"/>
            <a:ext cx="8915400" cy="5255337"/>
          </a:xfrm>
        </p:spPr>
        <p:txBody>
          <a:bodyPr/>
          <a:lstStyle/>
          <a:p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Έστω ότι έχουμε το αρχικό κλειδί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= 2B7E151628AED2A6ABF7158809CF4F3C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Άρα έχουμε </a:t>
            </a: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Nk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=4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με τις τέσσερις εισαγωγικές λέξεις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</a:p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Και η διαδικασία είναι η ακόλουθη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η οποία συνεχίζει μέχρι να υπολογιστούν και οι υπόλοιπες λέξεις.</a:t>
            </a:r>
          </a:p>
          <a:p>
            <a:pPr marL="0" indent="0">
              <a:buNone/>
            </a:pP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l-GR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Κάθε </a:t>
            </a:r>
            <a:r>
              <a:rPr lang="en-US" b="1" u="sng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RoundKey</a:t>
            </a:r>
            <a:r>
              <a:rPr lang="en-US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αποτελείται από 4 λέξεις σε όλες τις εκδόσεις!</a:t>
            </a:r>
          </a:p>
          <a:p>
            <a:pPr marL="0" indent="0">
              <a:buNone/>
            </a:pPr>
            <a:r>
              <a:rPr lang="el-GR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</a:t>
            </a:r>
            <a:endParaRPr lang="en-US" b="1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Εικόνα 8">
            <a:extLst>
              <a:ext uri="{FF2B5EF4-FFF2-40B4-BE49-F238E27FC236}">
                <a16:creationId xmlns:a16="http://schemas.microsoft.com/office/drawing/2014/main" id="{27B9B3FC-4233-7B97-9979-7A4F116D09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5675" y="2883550"/>
            <a:ext cx="6492803" cy="236240"/>
          </a:xfrm>
          <a:prstGeom prst="rect">
            <a:avLst/>
          </a:prstGeom>
        </p:spPr>
      </p:pic>
      <p:pic>
        <p:nvPicPr>
          <p:cNvPr id="12" name="Εικόνα 11">
            <a:extLst>
              <a:ext uri="{FF2B5EF4-FFF2-40B4-BE49-F238E27FC236}">
                <a16:creationId xmlns:a16="http://schemas.microsoft.com/office/drawing/2014/main" id="{FD74B52A-5C62-DD3F-5BCD-4B2FE651C2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2296" y="3610565"/>
            <a:ext cx="7236543" cy="1738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7983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14BAA-6FFD-F1C4-5F54-4CEE29F34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3301B88-140B-6BFE-453F-EE221E3BA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AES </a:t>
            </a:r>
            <a:r>
              <a:rPr lang="en-US" sz="3200" b="1" dirty="0" err="1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InvCipher</a:t>
            </a:r>
            <a:r>
              <a:rPr lang="en-US" sz="32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el-GR" sz="32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Αποκρυπτογράφηση</a:t>
            </a:r>
            <a:br>
              <a:rPr lang="el-GR" dirty="0"/>
            </a:br>
            <a:endParaRPr lang="el-GR" dirty="0"/>
          </a:p>
        </p:txBody>
      </p:sp>
      <p:cxnSp>
        <p:nvCxnSpPr>
          <p:cNvPr id="4" name="Ευθεία γραμμή σύνδεσης 3">
            <a:extLst>
              <a:ext uri="{FF2B5EF4-FFF2-40B4-BE49-F238E27FC236}">
                <a16:creationId xmlns:a16="http://schemas.microsoft.com/office/drawing/2014/main" id="{8FD8CA1B-D12D-3AA0-468C-5CD86A849799}"/>
              </a:ext>
            </a:extLst>
          </p:cNvPr>
          <p:cNvCxnSpPr>
            <a:cxnSpLocks/>
          </p:cNvCxnSpPr>
          <p:nvPr/>
        </p:nvCxnSpPr>
        <p:spPr>
          <a:xfrm>
            <a:off x="2488158" y="1399026"/>
            <a:ext cx="8632126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Θέση περιεχομένου 4">
            <a:extLst>
              <a:ext uri="{FF2B5EF4-FFF2-40B4-BE49-F238E27FC236}">
                <a16:creationId xmlns:a16="http://schemas.microsoft.com/office/drawing/2014/main" id="{30DC71DD-C622-9719-FA58-A37BAAE87C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02659"/>
            <a:ext cx="8915400" cy="5255337"/>
          </a:xfrm>
        </p:spPr>
        <p:txBody>
          <a:bodyPr/>
          <a:lstStyle/>
          <a:p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Η αποκρυπτογράφηση στον αλγόριθμο AES βασίζεται στη διαδικασία της αντιστροφής των μετασχηματισμών που εφαρμόστηκαν κατά την κρυπτογράφηση. 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l-G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Αρχικός Γύρος</a:t>
            </a:r>
          </a:p>
          <a:p>
            <a:pPr marL="0" indent="0">
              <a:buNone/>
            </a:pPr>
            <a:r>
              <a:rPr lang="el-G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AddRoundKey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l-G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Κύριους Γύρους(1,2,…,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Nr-1)</a:t>
            </a:r>
          </a:p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InvShiftRows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InvSubBytes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AddRoundKey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InvMixColumns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l-G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Τελικός Γύρος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(Nr)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InvShiftRows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InvSubBytes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AddRoundKey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Εικόνα 5">
            <a:extLst>
              <a:ext uri="{FF2B5EF4-FFF2-40B4-BE49-F238E27FC236}">
                <a16:creationId xmlns:a16="http://schemas.microsoft.com/office/drawing/2014/main" id="{4BEE790D-C8A5-EEDB-CF0B-5765DB1CBD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6775" y="2173943"/>
            <a:ext cx="4867838" cy="4473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3149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C1580-38B8-236A-3128-4F0B2FC7A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E92B326F-6359-2823-14F5-B09E10CE0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AES </a:t>
            </a:r>
            <a:r>
              <a:rPr lang="en-US" sz="3200" b="1" dirty="0" err="1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InvCipher</a:t>
            </a:r>
            <a:r>
              <a:rPr lang="en-US" sz="32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el-GR" sz="32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Αποκρυπτογράφηση</a:t>
            </a:r>
            <a:br>
              <a:rPr lang="el-GR" dirty="0"/>
            </a:br>
            <a:endParaRPr lang="el-GR" dirty="0"/>
          </a:p>
        </p:txBody>
      </p:sp>
      <p:cxnSp>
        <p:nvCxnSpPr>
          <p:cNvPr id="4" name="Ευθεία γραμμή σύνδεσης 3">
            <a:extLst>
              <a:ext uri="{FF2B5EF4-FFF2-40B4-BE49-F238E27FC236}">
                <a16:creationId xmlns:a16="http://schemas.microsoft.com/office/drawing/2014/main" id="{0257D896-1791-D22C-08EC-97437C5F07EA}"/>
              </a:ext>
            </a:extLst>
          </p:cNvPr>
          <p:cNvCxnSpPr>
            <a:cxnSpLocks/>
          </p:cNvCxnSpPr>
          <p:nvPr/>
        </p:nvCxnSpPr>
        <p:spPr>
          <a:xfrm>
            <a:off x="2488158" y="1399026"/>
            <a:ext cx="8632126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Θέση περιεχομένου 4">
            <a:extLst>
              <a:ext uri="{FF2B5EF4-FFF2-40B4-BE49-F238E27FC236}">
                <a16:creationId xmlns:a16="http://schemas.microsoft.com/office/drawing/2014/main" id="{0C1B5E06-FCB2-AABA-CD04-1B73730790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1" y="1602659"/>
            <a:ext cx="9406143" cy="5255337"/>
          </a:xfrm>
        </p:spPr>
        <p:txBody>
          <a:bodyPr/>
          <a:lstStyle/>
          <a:p>
            <a:r>
              <a:rPr lang="en-US" b="1" dirty="0" err="1">
                <a:solidFill>
                  <a:srgbClr val="E088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AddRoundKey</a:t>
            </a:r>
            <a:r>
              <a:rPr lang="en-US" b="1" dirty="0">
                <a:solidFill>
                  <a:srgbClr val="E088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Ίδια διαδικασία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υπολογισμού, απλά τα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RoundKeys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χρησιμοποιούνται με την αντίστροφη σειρά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b="1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RoundKeys</a:t>
            </a:r>
            <a:r>
              <a:rPr lang="en-US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[Nr] → </a:t>
            </a:r>
            <a:r>
              <a:rPr lang="en-US" b="1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RoundKeys</a:t>
            </a:r>
            <a:r>
              <a:rPr lang="en-US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[0] </a:t>
            </a:r>
          </a:p>
          <a:p>
            <a:r>
              <a:rPr lang="en-US" b="1" u="sng" dirty="0" err="1">
                <a:solidFill>
                  <a:srgbClr val="E088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InvSubBytes</a:t>
            </a:r>
            <a:r>
              <a:rPr lang="en-US" b="1" u="sng" dirty="0">
                <a:solidFill>
                  <a:srgbClr val="E088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αποτελεί την αντίστροφη λειτουργία της </a:t>
            </a:r>
            <a:r>
              <a:rPr lang="el-G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SubBytes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Συγκεκριμένα, εφαρμόζεται ο αντίστροφος πίνακας του S-</a:t>
            </a:r>
            <a:r>
              <a:rPr lang="el-G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box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δηλαδή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Για κάθε τιμή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y=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sbox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(x)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 x=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InvSbox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(y) </a:t>
            </a:r>
            <a:r>
              <a:rPr lang="el-G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US" b="1" i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b="1" i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Πίνακας </a:t>
            </a:r>
            <a:r>
              <a:rPr lang="en-US" b="1" i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Inverse S-Box</a:t>
            </a:r>
            <a:endParaRPr lang="el-GR" b="1" i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π.χ. ισχύει ότι το </a:t>
            </a:r>
            <a:r>
              <a:rPr lang="el-G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sbox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(00) = 63 → </a:t>
            </a:r>
            <a:r>
              <a:rPr lang="el-G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InvSbox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(63) = 00  </a:t>
            </a:r>
          </a:p>
          <a:p>
            <a:r>
              <a:rPr lang="en-US" b="1" u="sng" dirty="0" err="1">
                <a:solidFill>
                  <a:srgbClr val="E088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InvShiftRows</a:t>
            </a:r>
            <a:r>
              <a:rPr lang="en-US" b="1" u="sng" dirty="0">
                <a:solidFill>
                  <a:srgbClr val="E088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αποτελεί την αντίστροφη λειτουργία της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ShiftRows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buNone/>
            </a:pP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Μετατοπίζει </a:t>
            </a:r>
            <a:r>
              <a:rPr lang="el-G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κυκλικά προς τα δεξιά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τις γραμμές του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state,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με μετατόπιση ίση με τον αριθμό </a:t>
            </a:r>
            <a:r>
              <a:rPr lang="el-GR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της γραμμής.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u="sng" dirty="0" err="1">
                <a:solidFill>
                  <a:srgbClr val="E088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InvMixColumns</a:t>
            </a:r>
            <a:r>
              <a:rPr lang="en-US" b="1" u="sng" dirty="0">
                <a:solidFill>
                  <a:srgbClr val="E088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αποτελεί την αντίστροφη λειτουργία της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MixColumns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buNone/>
            </a:pPr>
            <a:r>
              <a:rPr lang="en-US" b="1" u="sng" dirty="0">
                <a:solidFill>
                  <a:srgbClr val="E088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					                        </a:t>
            </a:r>
          </a:p>
        </p:txBody>
      </p:sp>
      <p:pic>
        <p:nvPicPr>
          <p:cNvPr id="7" name="Εικόνα 6">
            <a:extLst>
              <a:ext uri="{FF2B5EF4-FFF2-40B4-BE49-F238E27FC236}">
                <a16:creationId xmlns:a16="http://schemas.microsoft.com/office/drawing/2014/main" id="{AED940D0-BB78-D66D-C805-4572963BC5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1316" y="3785420"/>
            <a:ext cx="2821858" cy="1167582"/>
          </a:xfrm>
          <a:prstGeom prst="rect">
            <a:avLst/>
          </a:prstGeom>
        </p:spPr>
      </p:pic>
      <p:pic>
        <p:nvPicPr>
          <p:cNvPr id="9" name="Εικόνα 8">
            <a:extLst>
              <a:ext uri="{FF2B5EF4-FFF2-40B4-BE49-F238E27FC236}">
                <a16:creationId xmlns:a16="http://schemas.microsoft.com/office/drawing/2014/main" id="{FD4F5E8A-51F5-1505-FBD7-512FDF31AF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9211" y="5466348"/>
            <a:ext cx="3696020" cy="914479"/>
          </a:xfrm>
          <a:prstGeom prst="rect">
            <a:avLst/>
          </a:prstGeom>
        </p:spPr>
      </p:pic>
      <p:pic>
        <p:nvPicPr>
          <p:cNvPr id="11" name="Εικόνα 10">
            <a:extLst>
              <a:ext uri="{FF2B5EF4-FFF2-40B4-BE49-F238E27FC236}">
                <a16:creationId xmlns:a16="http://schemas.microsoft.com/office/drawing/2014/main" id="{09696AD3-FF2F-0AA3-09F0-ED5F4CDF03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7921" y="5387293"/>
            <a:ext cx="4752634" cy="1036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0624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4B8EAB-731B-6666-68FA-145C176D0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7">
            <a:extLst>
              <a:ext uri="{FF2B5EF4-FFF2-40B4-BE49-F238E27FC236}">
                <a16:creationId xmlns:a16="http://schemas.microsoft.com/office/drawing/2014/main" id="{56C2CA10-263F-1C3C-9782-DE818C6F7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Διάγραμμα 3">
            <a:extLst>
              <a:ext uri="{FF2B5EF4-FFF2-40B4-BE49-F238E27FC236}">
                <a16:creationId xmlns:a16="http://schemas.microsoft.com/office/drawing/2014/main" id="{57BFA388-E408-18BF-7854-7D1210B6EB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85118790"/>
              </p:ext>
            </p:extLst>
          </p:nvPr>
        </p:nvGraphicFramePr>
        <p:xfrm>
          <a:off x="3225299" y="2826740"/>
          <a:ext cx="8131550" cy="12808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9" name="Rectangle 9">
            <a:extLst>
              <a:ext uri="{FF2B5EF4-FFF2-40B4-BE49-F238E27FC236}">
                <a16:creationId xmlns:a16="http://schemas.microsoft.com/office/drawing/2014/main" id="{397F1782-ADFB-E36B-7CB9-EDB77B456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285151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" name="Group 11">
            <a:extLst>
              <a:ext uri="{FF2B5EF4-FFF2-40B4-BE49-F238E27FC236}">
                <a16:creationId xmlns:a16="http://schemas.microsoft.com/office/drawing/2014/main" id="{B7B3471F-FB2F-99B5-83EA-17C9386911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  <a:solidFill>
            <a:schemeClr val="tx2">
              <a:lumMod val="60000"/>
              <a:lumOff val="40000"/>
              <a:alpha val="40000"/>
            </a:schemeClr>
          </a:solidFill>
        </p:grpSpPr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84001976-7A86-C963-227E-AE8B1A0059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92911866-1DDC-EA28-A37E-690444932A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A45258B8-6E71-5D34-33A4-ED3B76AAA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3BF77F0D-E704-A3C2-E9D4-A9F598345D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6182CC3C-B607-056C-3B0A-C9296E5158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2525B011-0E98-438E-A4B5-548CD07700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103CED8D-D04A-630F-062D-A0A5FBE521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0" name="Freeform 18">
              <a:extLst>
                <a:ext uri="{FF2B5EF4-FFF2-40B4-BE49-F238E27FC236}">
                  <a16:creationId xmlns:a16="http://schemas.microsoft.com/office/drawing/2014/main" id="{29B75CC5-FF61-3B3E-D42A-2CF611B4D5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1" name="Freeform 19">
              <a:extLst>
                <a:ext uri="{FF2B5EF4-FFF2-40B4-BE49-F238E27FC236}">
                  <a16:creationId xmlns:a16="http://schemas.microsoft.com/office/drawing/2014/main" id="{E5535EEE-F11F-8F6D-B1D0-EBF344863D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DC68B39C-1F40-5AF5-05C2-9176BAC539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1CDBE505-9B28-F0F0-800B-9E5A48B56B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E4A85572-8A36-4F9B-34E1-B6CC54703E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FA00FAE-DC17-9A4B-04C7-0957AEE683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  <a:solidFill>
            <a:schemeClr val="tx2">
              <a:lumMod val="75000"/>
              <a:alpha val="70000"/>
            </a:schemeClr>
          </a:solidFill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5F23A626-6A6C-70BE-C8E5-BD0746475F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BF730123-3100-8B3F-1252-6E64F8CF8B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3A1AD80-139F-6B9F-AA1B-D60E965D15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3D316034-3E59-239A-786A-04A98A5324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9CC03513-BD25-EC33-CB6B-BC6BB2F1B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E1568AB2-FC36-37EA-D18D-16822CF18D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3" name="Freeform 33">
              <a:extLst>
                <a:ext uri="{FF2B5EF4-FFF2-40B4-BE49-F238E27FC236}">
                  <a16:creationId xmlns:a16="http://schemas.microsoft.com/office/drawing/2014/main" id="{CB15F53E-B0F6-DCBA-DE55-386C5C6CF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4" name="Freeform 34">
              <a:extLst>
                <a:ext uri="{FF2B5EF4-FFF2-40B4-BE49-F238E27FC236}">
                  <a16:creationId xmlns:a16="http://schemas.microsoft.com/office/drawing/2014/main" id="{85EAAF4B-2324-EC97-4F84-FE70AADB40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5" name="Freeform 35">
              <a:extLst>
                <a:ext uri="{FF2B5EF4-FFF2-40B4-BE49-F238E27FC236}">
                  <a16:creationId xmlns:a16="http://schemas.microsoft.com/office/drawing/2014/main" id="{45D5F1FF-13D6-E8B2-5821-13C4CB9092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67C90CA-C3B3-0AA6-55F3-E4FFA8EB0B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73F8F3F4-3893-C5E7-2D70-37703B827B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F9DE66B9-476C-80C5-308F-273176EDA0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</p:grpSp>
      <p:sp>
        <p:nvSpPr>
          <p:cNvPr id="40" name="Freeform 11">
            <a:extLst>
              <a:ext uri="{FF2B5EF4-FFF2-40B4-BE49-F238E27FC236}">
                <a16:creationId xmlns:a16="http://schemas.microsoft.com/office/drawing/2014/main" id="{171BAF3D-2EFB-5475-F030-D075C4AEF0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411452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4706808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6BDCA-A244-CE5B-C01B-ED6442751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AAB7175A-2D45-468B-ACB9-33FBB9BAE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z="32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Εισαγωγή στην Αρχιτεκτονική του Συστήματος</a:t>
            </a:r>
            <a:br>
              <a:rPr lang="el-GR" dirty="0"/>
            </a:br>
            <a:endParaRPr lang="el-GR" dirty="0"/>
          </a:p>
        </p:txBody>
      </p:sp>
      <p:cxnSp>
        <p:nvCxnSpPr>
          <p:cNvPr id="4" name="Ευθεία γραμμή σύνδεσης 3">
            <a:extLst>
              <a:ext uri="{FF2B5EF4-FFF2-40B4-BE49-F238E27FC236}">
                <a16:creationId xmlns:a16="http://schemas.microsoft.com/office/drawing/2014/main" id="{BC190EE0-9B2F-6696-9D22-48AEAB90D86D}"/>
              </a:ext>
            </a:extLst>
          </p:cNvPr>
          <p:cNvCxnSpPr>
            <a:cxnSpLocks/>
          </p:cNvCxnSpPr>
          <p:nvPr/>
        </p:nvCxnSpPr>
        <p:spPr>
          <a:xfrm>
            <a:off x="2488158" y="1399026"/>
            <a:ext cx="8632126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Θέση περιεχομένου 4">
            <a:extLst>
              <a:ext uri="{FF2B5EF4-FFF2-40B4-BE49-F238E27FC236}">
                <a16:creationId xmlns:a16="http://schemas.microsoft.com/office/drawing/2014/main" id="{B387A0E2-F430-D497-2A78-03AE341CD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1" y="1602659"/>
            <a:ext cx="9602789" cy="5255337"/>
          </a:xfrm>
        </p:spPr>
        <p:txBody>
          <a:bodyPr/>
          <a:lstStyle/>
          <a:p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Περιβάλλον ανάπτυξης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Quartus II</a:t>
            </a:r>
            <a:endParaRPr lang="el-GR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Χρήση Προγραμματιστικής γλώσσας Υλικού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VHDL</a:t>
            </a:r>
          </a:p>
          <a:p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Χρήση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Modular Design</a:t>
            </a:r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Ξεχωριστά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Modules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για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Cipher,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InvCipher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UART</a:t>
            </a: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Εικόνα 9">
            <a:extLst>
              <a:ext uri="{FF2B5EF4-FFF2-40B4-BE49-F238E27FC236}">
                <a16:creationId xmlns:a16="http://schemas.microsoft.com/office/drawing/2014/main" id="{EB5F198D-9F54-FBE2-60A2-03709F4070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8432" y="2959509"/>
            <a:ext cx="8019168" cy="361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997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09F95-A455-9D52-7356-EE723BC54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19935446-6987-4DD1-5636-6DFA00259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z="32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Υλοποίηση </a:t>
            </a:r>
            <a:r>
              <a:rPr lang="en-US" sz="32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AES Cipher</a:t>
            </a:r>
            <a:br>
              <a:rPr lang="el-GR" dirty="0"/>
            </a:br>
            <a:endParaRPr lang="el-GR" dirty="0"/>
          </a:p>
        </p:txBody>
      </p:sp>
      <p:cxnSp>
        <p:nvCxnSpPr>
          <p:cNvPr id="4" name="Ευθεία γραμμή σύνδεσης 3">
            <a:extLst>
              <a:ext uri="{FF2B5EF4-FFF2-40B4-BE49-F238E27FC236}">
                <a16:creationId xmlns:a16="http://schemas.microsoft.com/office/drawing/2014/main" id="{678C1254-C863-BD34-D608-A09D438F2C35}"/>
              </a:ext>
            </a:extLst>
          </p:cNvPr>
          <p:cNvCxnSpPr>
            <a:cxnSpLocks/>
          </p:cNvCxnSpPr>
          <p:nvPr/>
        </p:nvCxnSpPr>
        <p:spPr>
          <a:xfrm>
            <a:off x="2488158" y="1399026"/>
            <a:ext cx="8632126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Θέση περιεχομένου 4">
            <a:extLst>
              <a:ext uri="{FF2B5EF4-FFF2-40B4-BE49-F238E27FC236}">
                <a16:creationId xmlns:a16="http://schemas.microsoft.com/office/drawing/2014/main" id="{E7C8CCF7-9F2A-A417-78B7-5455F82B09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9407" y="1399027"/>
            <a:ext cx="9812594" cy="5458970"/>
          </a:xfrm>
        </p:spPr>
        <p:txBody>
          <a:bodyPr/>
          <a:lstStyle/>
          <a:p>
            <a:r>
              <a:rPr lang="el-G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Αρχιτεκτονική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6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Iterative Round-Based</a:t>
            </a:r>
            <a:r>
              <a:rPr lang="el-G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με χρήση γενικών παραμέτρων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KEY_SIZE </a:t>
            </a:r>
            <a:r>
              <a:rPr lang="el-G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και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ROUND_COUNT </a:t>
            </a:r>
            <a:r>
              <a:rPr lang="el-G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για επιλογή έκδοσης. 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l-G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Υλοποίηση κάθε υπομονάδας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ξεχωριστά. Συγκεκριμένα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                                                       {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sbox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SubBytes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ShiftRows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MixColumns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AddRoundKey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</a:t>
            </a:r>
            <a:r>
              <a:rPr lang="el-G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combinational </a:t>
            </a:r>
            <a:r>
              <a:rPr lang="el-G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λογική</a:t>
            </a:r>
            <a:endParaRPr lang="el-GR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KeyExpansion</a:t>
            </a:r>
            <a:r>
              <a:rPr lang="el-G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</a:t>
            </a:r>
            <a:r>
              <a:rPr lang="el-GR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ακολουθιακή</a:t>
            </a:r>
            <a:r>
              <a:rPr lang="el-G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λογική με εμφάνιση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RoundKey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</a:t>
            </a:r>
            <a:r>
              <a:rPr lang="el-G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σε κάθε θετική ακμή του ρολογιού </a:t>
            </a:r>
          </a:p>
          <a:p>
            <a:r>
              <a:rPr lang="el-G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Αποτέλεσμα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l-G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Σειριακή εκτέλεση των γύρων</a:t>
            </a:r>
            <a:r>
              <a:rPr lang="el-G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ένας ανά κύκλο λειτουργίας μέχρι την εμφάνιση του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ciphertext. </a:t>
            </a:r>
          </a:p>
          <a:p>
            <a:r>
              <a:rPr lang="el-G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Παράλληλα, έχουν υλοποιηθεί ένας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Register 128-bits </a:t>
            </a:r>
            <a:r>
              <a:rPr lang="el-G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για την αποθήκευση του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state </a:t>
            </a:r>
            <a:r>
              <a:rPr lang="el-G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και ο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round_controller_encrypt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υπεύθυνος για τον έλεγχο των γύρων.</a:t>
            </a:r>
          </a:p>
          <a:p>
            <a:pPr marL="0" indent="0">
              <a:buNone/>
            </a:pPr>
            <a:r>
              <a:rPr lang="el-GR" sz="14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Πίνακας καταστάσεων </a:t>
            </a:r>
            <a:r>
              <a:rPr lang="en-US" sz="14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Cipher controller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						</a:t>
            </a:r>
            <a:r>
              <a:rPr lang="en-US" sz="14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RTL Cipher Controller</a:t>
            </a:r>
            <a:endParaRPr lang="el-GR" sz="1400" b="1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3" name="Εικόνα 12">
            <a:extLst>
              <a:ext uri="{FF2B5EF4-FFF2-40B4-BE49-F238E27FC236}">
                <a16:creationId xmlns:a16="http://schemas.microsoft.com/office/drawing/2014/main" id="{6BEA0251-88B5-CC47-652E-5389E4F3E2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4155" y="4277032"/>
            <a:ext cx="5987845" cy="2477729"/>
          </a:xfrm>
          <a:prstGeom prst="rect">
            <a:avLst/>
          </a:prstGeom>
        </p:spPr>
      </p:pic>
      <p:pic>
        <p:nvPicPr>
          <p:cNvPr id="15" name="Εικόνα 14">
            <a:extLst>
              <a:ext uri="{FF2B5EF4-FFF2-40B4-BE49-F238E27FC236}">
                <a16:creationId xmlns:a16="http://schemas.microsoft.com/office/drawing/2014/main" id="{B229580F-FAAD-6FF4-867D-888B042712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3244" y="4277032"/>
            <a:ext cx="3717119" cy="2477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5780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65BC6-186B-8572-57D5-356E4F262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45A27BC1-56CF-8053-D30C-5A1AAFCB5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RTL</a:t>
            </a:r>
            <a:r>
              <a:rPr lang="el-GR" sz="32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AES Cipher</a:t>
            </a:r>
            <a:br>
              <a:rPr lang="el-GR" dirty="0"/>
            </a:br>
            <a:endParaRPr lang="el-GR" dirty="0"/>
          </a:p>
        </p:txBody>
      </p:sp>
      <p:cxnSp>
        <p:nvCxnSpPr>
          <p:cNvPr id="4" name="Ευθεία γραμμή σύνδεσης 3">
            <a:extLst>
              <a:ext uri="{FF2B5EF4-FFF2-40B4-BE49-F238E27FC236}">
                <a16:creationId xmlns:a16="http://schemas.microsoft.com/office/drawing/2014/main" id="{4224E827-2163-1DAB-5CAE-E95280D5F56F}"/>
              </a:ext>
            </a:extLst>
          </p:cNvPr>
          <p:cNvCxnSpPr>
            <a:cxnSpLocks/>
          </p:cNvCxnSpPr>
          <p:nvPr/>
        </p:nvCxnSpPr>
        <p:spPr>
          <a:xfrm>
            <a:off x="2488158" y="1399026"/>
            <a:ext cx="8632126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Θέση περιεχομένου 4">
            <a:extLst>
              <a:ext uri="{FF2B5EF4-FFF2-40B4-BE49-F238E27FC236}">
                <a16:creationId xmlns:a16="http://schemas.microsoft.com/office/drawing/2014/main" id="{F06BB15F-019D-28EA-28FF-92CB11BFC4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9407" y="1399027"/>
            <a:ext cx="9812594" cy="5458970"/>
          </a:xfrm>
        </p:spPr>
        <p:txBody>
          <a:bodyPr/>
          <a:lstStyle/>
          <a:p>
            <a:endParaRPr lang="el-G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Εικόνα 7">
            <a:extLst>
              <a:ext uri="{FF2B5EF4-FFF2-40B4-BE49-F238E27FC236}">
                <a16:creationId xmlns:a16="http://schemas.microsoft.com/office/drawing/2014/main" id="{221BA58E-A1FC-1A41-EF84-D5C57E3A4F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8158" y="1504336"/>
            <a:ext cx="9615352" cy="5270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4135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B6B25-5FAE-35FF-E566-434B0D7AD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B9B1B66F-274C-101F-DD1C-2F58D0361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z="32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Υλοποίηση </a:t>
            </a:r>
            <a:r>
              <a:rPr lang="en-US" sz="32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AES </a:t>
            </a:r>
            <a:r>
              <a:rPr lang="en-US" sz="3200" b="1" dirty="0" err="1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InvCipher</a:t>
            </a:r>
            <a:br>
              <a:rPr lang="el-GR" dirty="0"/>
            </a:br>
            <a:endParaRPr lang="el-GR" dirty="0"/>
          </a:p>
        </p:txBody>
      </p:sp>
      <p:cxnSp>
        <p:nvCxnSpPr>
          <p:cNvPr id="4" name="Ευθεία γραμμή σύνδεσης 3">
            <a:extLst>
              <a:ext uri="{FF2B5EF4-FFF2-40B4-BE49-F238E27FC236}">
                <a16:creationId xmlns:a16="http://schemas.microsoft.com/office/drawing/2014/main" id="{615E5A79-4E8F-AF3D-75EA-DFC9623D2521}"/>
              </a:ext>
            </a:extLst>
          </p:cNvPr>
          <p:cNvCxnSpPr>
            <a:cxnSpLocks/>
          </p:cNvCxnSpPr>
          <p:nvPr/>
        </p:nvCxnSpPr>
        <p:spPr>
          <a:xfrm>
            <a:off x="2488158" y="1399026"/>
            <a:ext cx="8632126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Θέση περιεχομένου 4">
            <a:extLst>
              <a:ext uri="{FF2B5EF4-FFF2-40B4-BE49-F238E27FC236}">
                <a16:creationId xmlns:a16="http://schemas.microsoft.com/office/drawing/2014/main" id="{ED82F0EF-F97E-E640-06B9-17453573D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9407" y="1399027"/>
            <a:ext cx="9812594" cy="5458970"/>
          </a:xfrm>
        </p:spPr>
        <p:txBody>
          <a:bodyPr/>
          <a:lstStyle/>
          <a:p>
            <a:r>
              <a:rPr lang="el-GR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Ακριβώς ίδια αρχιτεκτονική με αυτή του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AES Cipher</a:t>
            </a:r>
          </a:p>
          <a:p>
            <a:r>
              <a:rPr lang="el-G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Αντί του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round_controller_encrypt</a:t>
            </a:r>
            <a:r>
              <a:rPr lang="el-G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,τώρα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υπάρχει ο </a:t>
            </a:r>
            <a:r>
              <a:rPr lang="en-US" sz="1600" b="1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round_controller_decrypt</a:t>
            </a:r>
            <a:r>
              <a:rPr lang="en-US" sz="16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l-GR" sz="1600" b="1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l-GR" sz="14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Πίνακας καταστάσεων </a:t>
            </a:r>
            <a:r>
              <a:rPr lang="en-US" sz="1400" b="1" u="sng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InvCipher</a:t>
            </a:r>
            <a:r>
              <a:rPr lang="en-US" sz="14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Controller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					</a:t>
            </a:r>
          </a:p>
          <a:p>
            <a:pPr marL="0" indent="0">
              <a:buNone/>
            </a:pP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4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RTL </a:t>
            </a:r>
            <a:r>
              <a:rPr lang="en-US" sz="1400" b="1" u="sng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InvCipher</a:t>
            </a:r>
            <a:r>
              <a:rPr lang="en-US" sz="14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Controller</a:t>
            </a:r>
          </a:p>
          <a:p>
            <a:pPr marL="0" indent="0">
              <a:buNone/>
            </a:pP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Εικόνα 5">
            <a:extLst>
              <a:ext uri="{FF2B5EF4-FFF2-40B4-BE49-F238E27FC236}">
                <a16:creationId xmlns:a16="http://schemas.microsoft.com/office/drawing/2014/main" id="{3D187A66-8272-5B93-7C62-0AAAD7CBEC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6755" y="2495823"/>
            <a:ext cx="7384026" cy="1535403"/>
          </a:xfrm>
          <a:prstGeom prst="rect">
            <a:avLst/>
          </a:prstGeom>
        </p:spPr>
      </p:pic>
      <p:pic>
        <p:nvPicPr>
          <p:cNvPr id="8" name="Εικόνα 7">
            <a:extLst>
              <a:ext uri="{FF2B5EF4-FFF2-40B4-BE49-F238E27FC236}">
                <a16:creationId xmlns:a16="http://schemas.microsoft.com/office/drawing/2014/main" id="{4216F525-27ED-7B61-4560-CD4A0A254A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0116" y="4483509"/>
            <a:ext cx="6980903" cy="223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4944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F204A-214E-0A06-85A4-F4E48CDAA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1CEAEC45-0D38-E659-CA7E-5683D076D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RTL</a:t>
            </a:r>
            <a:r>
              <a:rPr lang="el-GR" sz="32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AES </a:t>
            </a:r>
            <a:r>
              <a:rPr lang="en-US" sz="3200" b="1" dirty="0" err="1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InvCipher</a:t>
            </a:r>
            <a:br>
              <a:rPr lang="el-GR" dirty="0"/>
            </a:br>
            <a:endParaRPr lang="el-GR" dirty="0"/>
          </a:p>
        </p:txBody>
      </p:sp>
      <p:cxnSp>
        <p:nvCxnSpPr>
          <p:cNvPr id="4" name="Ευθεία γραμμή σύνδεσης 3">
            <a:extLst>
              <a:ext uri="{FF2B5EF4-FFF2-40B4-BE49-F238E27FC236}">
                <a16:creationId xmlns:a16="http://schemas.microsoft.com/office/drawing/2014/main" id="{8777AFAF-BF91-62F6-546F-0FE9E7254557}"/>
              </a:ext>
            </a:extLst>
          </p:cNvPr>
          <p:cNvCxnSpPr>
            <a:cxnSpLocks/>
          </p:cNvCxnSpPr>
          <p:nvPr/>
        </p:nvCxnSpPr>
        <p:spPr>
          <a:xfrm>
            <a:off x="2488158" y="1399026"/>
            <a:ext cx="8632126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Θέση περιεχομένου 4">
            <a:extLst>
              <a:ext uri="{FF2B5EF4-FFF2-40B4-BE49-F238E27FC236}">
                <a16:creationId xmlns:a16="http://schemas.microsoft.com/office/drawing/2014/main" id="{A5668F65-CC85-B577-74BC-02112A0AFB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9407" y="1602659"/>
            <a:ext cx="9812594" cy="5255337"/>
          </a:xfrm>
        </p:spPr>
        <p:txBody>
          <a:bodyPr/>
          <a:lstStyle/>
          <a:p>
            <a:pPr marL="0" indent="0">
              <a:buNone/>
            </a:pP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l-GR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Εικόνα 7">
            <a:extLst>
              <a:ext uri="{FF2B5EF4-FFF2-40B4-BE49-F238E27FC236}">
                <a16:creationId xmlns:a16="http://schemas.microsoft.com/office/drawing/2014/main" id="{A3F33594-4D5F-2B9F-45CC-7B7999BABA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1111" y="1602658"/>
            <a:ext cx="9812595" cy="5255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5249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DDD3F-9509-E4D2-C6AC-C3705F90B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E9DF3B9C-59D9-9DC0-CA1C-48FE93BA7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z="32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Ολοκληρωμένο </a:t>
            </a:r>
            <a:r>
              <a:rPr lang="en-US" sz="32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AES Module</a:t>
            </a:r>
            <a:br>
              <a:rPr lang="el-GR" dirty="0"/>
            </a:br>
            <a:endParaRPr lang="el-GR" dirty="0"/>
          </a:p>
        </p:txBody>
      </p:sp>
      <p:cxnSp>
        <p:nvCxnSpPr>
          <p:cNvPr id="4" name="Ευθεία γραμμή σύνδεσης 3">
            <a:extLst>
              <a:ext uri="{FF2B5EF4-FFF2-40B4-BE49-F238E27FC236}">
                <a16:creationId xmlns:a16="http://schemas.microsoft.com/office/drawing/2014/main" id="{9B69400A-0ADA-CE53-88A1-623602B7A47A}"/>
              </a:ext>
            </a:extLst>
          </p:cNvPr>
          <p:cNvCxnSpPr>
            <a:cxnSpLocks/>
          </p:cNvCxnSpPr>
          <p:nvPr/>
        </p:nvCxnSpPr>
        <p:spPr>
          <a:xfrm>
            <a:off x="2488158" y="1399026"/>
            <a:ext cx="8632126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Θέση περιεχομένου 4">
            <a:extLst>
              <a:ext uri="{FF2B5EF4-FFF2-40B4-BE49-F238E27FC236}">
                <a16:creationId xmlns:a16="http://schemas.microsoft.com/office/drawing/2014/main" id="{F6C0420A-7DB1-3FBC-3375-36D3609BBF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9407" y="1317523"/>
            <a:ext cx="9812594" cy="554047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l-GR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l-G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Αποτελεί τον </a:t>
            </a:r>
            <a:r>
              <a:rPr lang="el-GR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εσωτερικό πυρήνα </a:t>
            </a:r>
            <a:r>
              <a:rPr lang="el-G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του συστήματος,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που συνδέει τις βασικές μονάδες(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Cipher,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InvCipher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l-G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και υλοποιεί τη ροή δεδομένων μεταξύ τους.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l-G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Περιλαμβάνει έναν επιβραδυντή ρολογιού(</a:t>
            </a:r>
            <a:r>
              <a:rPr lang="en-US" sz="14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Clock Divider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), </a:t>
            </a:r>
            <a:r>
              <a:rPr lang="el-G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το οποίο τροφοδοτεί τις δύο μονάδες και επιτρέπει την αυτόματη παρατήρηση των αποτελεσμάτων μέσω του σήματος </a:t>
            </a:r>
            <a:r>
              <a:rPr lang="en-US" sz="1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aes_enable</a:t>
            </a: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l-G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Το σήμα </a:t>
            </a:r>
            <a:r>
              <a:rPr lang="en-US" sz="1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encrypt_decrypt</a:t>
            </a: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καθορίζει ποια μονάδα ενεργοποιείται</a:t>
            </a:r>
            <a:r>
              <a:rPr lang="el-GR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(0</a:t>
            </a:r>
            <a:r>
              <a:rPr lang="el-G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Cipher , 1InvCipher)</a:t>
            </a:r>
            <a:endParaRPr lang="el-G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l-G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Το σήμα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sel_part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επιλέγει ποιο κομμάτι από ολόκληρο το 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state </a:t>
            </a:r>
            <a:r>
              <a:rPr lang="el-G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μπορούμε να δούμε στα 7-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Hex </a:t>
            </a:r>
          </a:p>
        </p:txBody>
      </p:sp>
      <p:pic>
        <p:nvPicPr>
          <p:cNvPr id="11" name="Εικόνα 10">
            <a:extLst>
              <a:ext uri="{FF2B5EF4-FFF2-40B4-BE49-F238E27FC236}">
                <a16:creationId xmlns:a16="http://schemas.microsoft.com/office/drawing/2014/main" id="{F72AC599-D71D-837D-9AEF-7603CC1632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925" y="3578942"/>
            <a:ext cx="9530249" cy="3185652"/>
          </a:xfrm>
          <a:prstGeom prst="rect">
            <a:avLst/>
          </a:prstGeom>
        </p:spPr>
      </p:pic>
      <p:pic>
        <p:nvPicPr>
          <p:cNvPr id="13" name="Εικόνα 12">
            <a:extLst>
              <a:ext uri="{FF2B5EF4-FFF2-40B4-BE49-F238E27FC236}">
                <a16:creationId xmlns:a16="http://schemas.microsoft.com/office/drawing/2014/main" id="{019FC795-A719-9973-DB55-D6065E073D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4104" y="2804819"/>
            <a:ext cx="2467896" cy="624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3495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25C57-32DA-BBAC-95E1-51E73A078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A33A72BA-6190-C7F3-CE46-F7456BD42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z="32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Μονάδες </a:t>
            </a:r>
            <a:r>
              <a:rPr lang="en-US" sz="32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UART</a:t>
            </a:r>
            <a:r>
              <a:rPr lang="el-GR" sz="32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Εισόδων και Εξόδων</a:t>
            </a:r>
            <a:br>
              <a:rPr lang="el-GR" dirty="0"/>
            </a:br>
            <a:endParaRPr lang="el-GR" dirty="0"/>
          </a:p>
        </p:txBody>
      </p:sp>
      <p:cxnSp>
        <p:nvCxnSpPr>
          <p:cNvPr id="4" name="Ευθεία γραμμή σύνδεσης 3">
            <a:extLst>
              <a:ext uri="{FF2B5EF4-FFF2-40B4-BE49-F238E27FC236}">
                <a16:creationId xmlns:a16="http://schemas.microsoft.com/office/drawing/2014/main" id="{8E353F28-C3C1-EF8D-6433-FE57C72C4BBE}"/>
              </a:ext>
            </a:extLst>
          </p:cNvPr>
          <p:cNvCxnSpPr>
            <a:cxnSpLocks/>
          </p:cNvCxnSpPr>
          <p:nvPr/>
        </p:nvCxnSpPr>
        <p:spPr>
          <a:xfrm>
            <a:off x="2488158" y="1399026"/>
            <a:ext cx="8632126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Θέση περιεχομένου 4">
            <a:extLst>
              <a:ext uri="{FF2B5EF4-FFF2-40B4-BE49-F238E27FC236}">
                <a16:creationId xmlns:a16="http://schemas.microsoft.com/office/drawing/2014/main" id="{13E9352C-7A59-2594-58F9-309ABF92B1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9407" y="1317523"/>
            <a:ext cx="9812594" cy="554047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l-GR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l-G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Σκοπός της χρήσης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UART </a:t>
            </a:r>
            <a:r>
              <a:rPr lang="el-G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είναι η διασύνδεση του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FPGA </a:t>
            </a:r>
            <a:r>
              <a:rPr lang="el-G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με τον υπολογιστή για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l-G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Καταχώρηση </a:t>
            </a: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Plaintext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και </a:t>
            </a: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l-G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Επιστροφή του </a:t>
            </a:r>
            <a:r>
              <a:rPr lang="el-GR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αποτελέσματος</a:t>
            </a:r>
            <a:r>
              <a:rPr lang="el-G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μέσω σειριακή επικοινωνίας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UART(Rx/Tx)</a:t>
            </a:r>
          </a:p>
          <a:p>
            <a:r>
              <a:rPr lang="en-US" sz="1600" b="1" u="sng" dirty="0" err="1">
                <a:solidFill>
                  <a:srgbClr val="E088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UART_Inputs</a:t>
            </a:r>
            <a:r>
              <a:rPr lang="el-GR" sz="1600" b="1" u="sng" dirty="0">
                <a:solidFill>
                  <a:srgbClr val="E088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l-GR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Δέχεται δεδομένα από το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PC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byte </a:t>
            </a:r>
            <a:r>
              <a:rPr lang="el-G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προς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byte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μέσω</a:t>
            </a:r>
            <a:r>
              <a:rPr lang="el-G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UART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_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Rx</a:t>
            </a:r>
            <a:endParaRPr lang="el-G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Υλοποιεί</a:t>
            </a:r>
            <a:r>
              <a:rPr lang="el-G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state machine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που αποθηκεύει σειριακά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1085850" lvl="2" indent="-285750">
              <a:buFont typeface="Wingdings" panose="05000000000000000000" pitchFamily="2" charset="2"/>
              <a:buChar char="v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Plaintext(128 bits)</a:t>
            </a:r>
          </a:p>
          <a:p>
            <a:pPr marL="1085850" lvl="2" indent="-285750">
              <a:buFont typeface="Wingdings" panose="05000000000000000000" pitchFamily="2" charset="2"/>
              <a:buChar char="v"/>
            </a:pP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Το</a:t>
            </a:r>
            <a:r>
              <a:rPr lang="el-G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(128/192/256 bits)</a:t>
            </a:r>
            <a:endParaRPr lang="en-US" dirty="0"/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Χρησιμοποιεί </a:t>
            </a:r>
            <a:r>
              <a:rPr lang="el-G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και UART_TX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ώστε το </a:t>
            </a:r>
            <a:r>
              <a:rPr lang="el-G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terminal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να</a:t>
            </a:r>
          </a:p>
          <a:p>
            <a:pPr marL="400050" lvl="1" indent="0">
              <a:buNone/>
            </a:pP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εμφανίζει σε πραγματικό χρόνο τα δεδομένα </a:t>
            </a:r>
          </a:p>
          <a:p>
            <a:pPr marL="400050" lvl="1" indent="0">
              <a:buNone/>
            </a:pP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που </a:t>
            </a:r>
            <a:r>
              <a:rPr lang="el-G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πληκτρολογούνται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Όταν ολοκληρωθεί η λήψη → ενεργοποιεί σήμα </a:t>
            </a:r>
            <a:r>
              <a:rPr lang="el-G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loading_ready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που σημαίνει ότι μπορεί να ξεκινήσει ο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AES</a:t>
            </a:r>
          </a:p>
          <a:p>
            <a:r>
              <a:rPr lang="en-US" sz="1600" b="1" u="sng" dirty="0" err="1">
                <a:solidFill>
                  <a:srgbClr val="E088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Uart_Output</a:t>
            </a:r>
            <a:r>
              <a:rPr lang="en-US" sz="1600" b="1" u="sng" dirty="0">
                <a:solidFill>
                  <a:srgbClr val="E088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l-GR" sz="1600" b="1" u="sng" dirty="0">
                <a:solidFill>
                  <a:srgbClr val="E088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0" indent="0">
              <a:buNone/>
            </a:pPr>
            <a:r>
              <a:rPr lang="el-G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Συνδέεται με το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AES core </a:t>
            </a:r>
            <a:r>
              <a:rPr lang="el-G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μέσω του σήματος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start_send</a:t>
            </a:r>
            <a:r>
              <a:rPr lang="el-GR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l-G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Όταν</a:t>
            </a:r>
            <a:r>
              <a:rPr lang="el-GR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ολοκληρωθεί η αποκρυπτογράφηση, στέλνει τα   	</a:t>
            </a:r>
            <a:r>
              <a:rPr lang="el-GR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bytes</a:t>
            </a:r>
            <a:r>
              <a:rPr lang="el-GR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του αποτελέσματος</a:t>
            </a:r>
            <a:r>
              <a:rPr lang="el-G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πίσω στο PC μέσω UART_TX.</a:t>
            </a:r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Εικόνα 5">
            <a:extLst>
              <a:ext uri="{FF2B5EF4-FFF2-40B4-BE49-F238E27FC236}">
                <a16:creationId xmlns:a16="http://schemas.microsoft.com/office/drawing/2014/main" id="{C5D3B732-4FD1-2DA1-EE17-CCA13F232A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3019" y="3429001"/>
            <a:ext cx="4699819" cy="1801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5881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D85B0-4118-F174-7A47-6E3972B47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88776AB-3D01-E3F0-20A5-AFEF47745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z="32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Τελική Διασύνδεση </a:t>
            </a:r>
            <a:r>
              <a:rPr lang="en-US" sz="32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AES - UART</a:t>
            </a:r>
            <a:br>
              <a:rPr lang="el-GR" dirty="0"/>
            </a:br>
            <a:endParaRPr lang="el-GR" dirty="0"/>
          </a:p>
        </p:txBody>
      </p:sp>
      <p:cxnSp>
        <p:nvCxnSpPr>
          <p:cNvPr id="4" name="Ευθεία γραμμή σύνδεσης 3">
            <a:extLst>
              <a:ext uri="{FF2B5EF4-FFF2-40B4-BE49-F238E27FC236}">
                <a16:creationId xmlns:a16="http://schemas.microsoft.com/office/drawing/2014/main" id="{139D895E-ABFC-232F-02D4-8740925AF994}"/>
              </a:ext>
            </a:extLst>
          </p:cNvPr>
          <p:cNvCxnSpPr>
            <a:cxnSpLocks/>
          </p:cNvCxnSpPr>
          <p:nvPr/>
        </p:nvCxnSpPr>
        <p:spPr>
          <a:xfrm>
            <a:off x="2488158" y="1399026"/>
            <a:ext cx="8632126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Θέση περιεχομένου 6">
            <a:extLst>
              <a:ext uri="{FF2B5EF4-FFF2-40B4-BE49-F238E27FC236}">
                <a16:creationId xmlns:a16="http://schemas.microsoft.com/office/drawing/2014/main" id="{DEB8DBB9-B69E-FC74-0D75-E8F7B353E6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88158" y="1671489"/>
            <a:ext cx="9635016" cy="4916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7084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DEA64F-3DE5-FF97-6535-289D0902F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7">
            <a:extLst>
              <a:ext uri="{FF2B5EF4-FFF2-40B4-BE49-F238E27FC236}">
                <a16:creationId xmlns:a16="http://schemas.microsoft.com/office/drawing/2014/main" id="{2C025051-9210-088A-505C-D457287208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Διάγραμμα 3">
            <a:extLst>
              <a:ext uri="{FF2B5EF4-FFF2-40B4-BE49-F238E27FC236}">
                <a16:creationId xmlns:a16="http://schemas.microsoft.com/office/drawing/2014/main" id="{0CD72855-93F7-F78E-0810-455860BD6D4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27768470"/>
              </p:ext>
            </p:extLst>
          </p:nvPr>
        </p:nvGraphicFramePr>
        <p:xfrm>
          <a:off x="3225299" y="2826740"/>
          <a:ext cx="8464310" cy="12808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9" name="Rectangle 9">
            <a:extLst>
              <a:ext uri="{FF2B5EF4-FFF2-40B4-BE49-F238E27FC236}">
                <a16:creationId xmlns:a16="http://schemas.microsoft.com/office/drawing/2014/main" id="{563CC8FE-EEB7-671A-D7C6-1D7593ACA1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285151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" name="Group 11">
            <a:extLst>
              <a:ext uri="{FF2B5EF4-FFF2-40B4-BE49-F238E27FC236}">
                <a16:creationId xmlns:a16="http://schemas.microsoft.com/office/drawing/2014/main" id="{4366C80D-2FBD-5883-AE4E-D6AE830C9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  <a:solidFill>
            <a:schemeClr val="tx2">
              <a:lumMod val="60000"/>
              <a:lumOff val="40000"/>
              <a:alpha val="40000"/>
            </a:schemeClr>
          </a:solidFill>
        </p:grpSpPr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EF4BF94D-F5D8-CF45-785C-78C7385103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A738D64D-33C3-0D54-2A2E-4F0BD91219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9AB8CBDB-7903-399F-FEB6-AC27158905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816FF1BA-830D-333C-35AF-AA4A0B91E0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2EEF4475-1428-22BE-D929-68FCC8A282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B0015A69-151D-B739-C833-BB88E7CCC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9760818C-BD68-5AC3-FAD4-C7A73A5674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0" name="Freeform 18">
              <a:extLst>
                <a:ext uri="{FF2B5EF4-FFF2-40B4-BE49-F238E27FC236}">
                  <a16:creationId xmlns:a16="http://schemas.microsoft.com/office/drawing/2014/main" id="{7030FD04-BDEA-A606-5431-BD2D6D980D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1" name="Freeform 19">
              <a:extLst>
                <a:ext uri="{FF2B5EF4-FFF2-40B4-BE49-F238E27FC236}">
                  <a16:creationId xmlns:a16="http://schemas.microsoft.com/office/drawing/2014/main" id="{0835B446-57D9-9EA9-53E0-784B5D4312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49D51BCA-E7A7-50B0-EF1E-38EA28E6FA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AB798049-4AF6-C936-37A8-E0DC1083B8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0BA2D12E-1854-B22B-3BBD-4B937D552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1CF128D-5A47-4E07-7396-99DE479A7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  <a:solidFill>
            <a:schemeClr val="tx2">
              <a:lumMod val="75000"/>
              <a:alpha val="70000"/>
            </a:schemeClr>
          </a:solidFill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9C4BCD36-C73A-2FBD-8511-900424FE5E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D222F4B8-3C9A-65D8-0E5C-DF2105671C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3C6F3450-EEE4-A04C-FB40-35BD495E90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AACE3615-440A-D539-EA0D-292EBE963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8E0ADDA9-5888-BF03-6988-C05C45A5E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7AD33E5B-A301-E2FE-03CD-E3EC13D353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3" name="Freeform 33">
              <a:extLst>
                <a:ext uri="{FF2B5EF4-FFF2-40B4-BE49-F238E27FC236}">
                  <a16:creationId xmlns:a16="http://schemas.microsoft.com/office/drawing/2014/main" id="{2057388B-9EB1-9858-D554-4C659AD53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4" name="Freeform 34">
              <a:extLst>
                <a:ext uri="{FF2B5EF4-FFF2-40B4-BE49-F238E27FC236}">
                  <a16:creationId xmlns:a16="http://schemas.microsoft.com/office/drawing/2014/main" id="{DBA7C800-43C4-A549-BFCB-CE631EE40B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5" name="Freeform 35">
              <a:extLst>
                <a:ext uri="{FF2B5EF4-FFF2-40B4-BE49-F238E27FC236}">
                  <a16:creationId xmlns:a16="http://schemas.microsoft.com/office/drawing/2014/main" id="{83E6775B-9EF7-AAD6-5C9C-3C5B64A9B7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0D71DFFA-B51C-C042-1F78-9041D9BABD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A4F0F82B-9018-2515-F50D-B05BA360D1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E2987FD9-4FD1-ADB8-F2AE-86FD668A20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</p:grpSp>
      <p:sp>
        <p:nvSpPr>
          <p:cNvPr id="40" name="Freeform 11">
            <a:extLst>
              <a:ext uri="{FF2B5EF4-FFF2-40B4-BE49-F238E27FC236}">
                <a16:creationId xmlns:a16="http://schemas.microsoft.com/office/drawing/2014/main" id="{E21EDF5E-27CB-D7B8-16A1-00B8D7AF2E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411452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655054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1261A-0238-341A-A8E3-566EEF44C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E4D2AD93-744E-0B28-D572-2125EFDFC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z="32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Στόχοι και Μεθοδολογία</a:t>
            </a:r>
            <a:br>
              <a:rPr lang="el-GR" dirty="0"/>
            </a:br>
            <a:endParaRPr lang="el-GR" dirty="0"/>
          </a:p>
        </p:txBody>
      </p:sp>
      <p:cxnSp>
        <p:nvCxnSpPr>
          <p:cNvPr id="4" name="Ευθεία γραμμή σύνδεσης 3">
            <a:extLst>
              <a:ext uri="{FF2B5EF4-FFF2-40B4-BE49-F238E27FC236}">
                <a16:creationId xmlns:a16="http://schemas.microsoft.com/office/drawing/2014/main" id="{11BF611B-B1C7-C920-E0B7-B8AC8AD25B5F}"/>
              </a:ext>
            </a:extLst>
          </p:cNvPr>
          <p:cNvCxnSpPr>
            <a:cxnSpLocks/>
          </p:cNvCxnSpPr>
          <p:nvPr/>
        </p:nvCxnSpPr>
        <p:spPr>
          <a:xfrm>
            <a:off x="2488158" y="1399026"/>
            <a:ext cx="8632126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Θέση περιεχομένου 4">
            <a:extLst>
              <a:ext uri="{FF2B5EF4-FFF2-40B4-BE49-F238E27FC236}">
                <a16:creationId xmlns:a16="http://schemas.microsoft.com/office/drawing/2014/main" id="{BA7DDCAB-7E32-CD35-276E-136ECD2CC9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8735" y="1317523"/>
            <a:ext cx="9773266" cy="554047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l-GR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l-G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Στόχοι Δοκιμών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											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l-G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Επαλήθευση Λειτουργικής Ορθότητας (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Cipher/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InvCipher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     </a:t>
            </a:r>
          </a:p>
          <a:p>
            <a:pPr lvl="1" indent="-342900">
              <a:buFont typeface="Arial" panose="020B0604020202020204" pitchFamily="34" charset="0"/>
              <a:buChar char="•"/>
            </a:pPr>
            <a:r>
              <a:rPr lang="el-G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Έλεγχος συμβατότητας με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AES standards</a:t>
            </a:r>
            <a:r>
              <a:rPr lang="el-G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(NIST Test Vectors)   </a:t>
            </a:r>
          </a:p>
          <a:p>
            <a:pPr lvl="1" indent="-342900">
              <a:buFont typeface="Arial" panose="020B0604020202020204" pitchFamily="34" charset="0"/>
              <a:buChar char="•"/>
            </a:pPr>
            <a:r>
              <a:rPr lang="el-G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Αξιολόγηση απόδοσης σε πραγματικό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hardware Cyclone II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l-G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Επαλήθευση και των τριών εκδόσεων του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AES</a:t>
            </a:r>
            <a:endParaRPr lang="el-GR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00050" lvl="1" indent="0">
              <a:buNone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Μεθοδολογία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Επαλήθευσης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ModelSim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+ Quartus II Timing Analysis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FPGA Cyclone II EP2C35F672C6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Dual UART terminals via Putty</a:t>
            </a:r>
          </a:p>
        </p:txBody>
      </p:sp>
      <p:pic>
        <p:nvPicPr>
          <p:cNvPr id="11" name="Εικόνα 10">
            <a:extLst>
              <a:ext uri="{FF2B5EF4-FFF2-40B4-BE49-F238E27FC236}">
                <a16:creationId xmlns:a16="http://schemas.microsoft.com/office/drawing/2014/main" id="{04A3EEA3-1015-238C-59DC-A291BACEF3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1239" y="3893113"/>
            <a:ext cx="5230761" cy="278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806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678A0-A3C3-B967-9CC2-CBC2E0A95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C4BAAC92-2527-AD9F-E6D8-2745E502D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z="32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Επαλήθευση Λειτουργίας μέσω </a:t>
            </a:r>
            <a:r>
              <a:rPr lang="en-US" sz="3200" b="1" dirty="0" err="1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ModelSim</a:t>
            </a:r>
            <a:br>
              <a:rPr lang="el-GR" dirty="0"/>
            </a:br>
            <a:endParaRPr lang="el-GR" dirty="0"/>
          </a:p>
        </p:txBody>
      </p:sp>
      <p:cxnSp>
        <p:nvCxnSpPr>
          <p:cNvPr id="4" name="Ευθεία γραμμή σύνδεσης 3">
            <a:extLst>
              <a:ext uri="{FF2B5EF4-FFF2-40B4-BE49-F238E27FC236}">
                <a16:creationId xmlns:a16="http://schemas.microsoft.com/office/drawing/2014/main" id="{F945B6FB-76AE-37A1-A2E9-4461B3DD6EA5}"/>
              </a:ext>
            </a:extLst>
          </p:cNvPr>
          <p:cNvCxnSpPr>
            <a:cxnSpLocks/>
          </p:cNvCxnSpPr>
          <p:nvPr/>
        </p:nvCxnSpPr>
        <p:spPr>
          <a:xfrm>
            <a:off x="2488158" y="1399026"/>
            <a:ext cx="8632126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Θέση περιεχομένου 4">
            <a:extLst>
              <a:ext uri="{FF2B5EF4-FFF2-40B4-BE49-F238E27FC236}">
                <a16:creationId xmlns:a16="http://schemas.microsoft.com/office/drawing/2014/main" id="{C59C05EF-C14B-F4EC-EE15-AEC8D2BBB3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8735" y="1317523"/>
            <a:ext cx="9773266" cy="554047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l-GR" sz="1600" b="1" i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Παράδειγμα Προσομοίωσης </a:t>
            </a:r>
            <a:r>
              <a:rPr lang="en-US" sz="1600" b="1" i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AES-128 </a:t>
            </a:r>
          </a:p>
          <a:p>
            <a:pPr marL="0" indent="0">
              <a:buNone/>
            </a:pPr>
            <a:r>
              <a:rPr lang="el-G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Δεδομένα Ελέγχου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(NIST Test Vector):</a:t>
            </a:r>
          </a:p>
          <a:p>
            <a:pPr marL="685800" lvl="1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Plaintext: 3243F6A8885A308D313198A2E0370734 </a:t>
            </a:r>
          </a:p>
          <a:p>
            <a:pPr marL="685800" lvl="1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Key: 2B7E151628AED2A6ABF7158809CF4f3C </a:t>
            </a:r>
          </a:p>
          <a:p>
            <a:pPr marL="685800" lvl="1"/>
            <a:r>
              <a:rPr lang="el-G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Αναμενόμενο 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Ciphertext: 3925841D02DC09FBDC118597196A0B32 </a:t>
            </a:r>
            <a:endParaRPr lang="en-US" sz="1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l-GR" sz="1600" b="1" i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Αποτελέσματα Προσομοίωσης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								</a:t>
            </a:r>
            <a:endParaRPr lang="el-GR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l-GR" sz="1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Για το </a:t>
            </a:r>
            <a:r>
              <a:rPr lang="en-US" sz="1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Cipher:</a:t>
            </a:r>
          </a:p>
          <a:p>
            <a:pPr marL="0" indent="0">
              <a:buNone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0" indent="0">
              <a:buNone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l-GR" sz="1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Για το </a:t>
            </a:r>
            <a:r>
              <a:rPr lang="en-US" sz="14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InvCipher</a:t>
            </a:r>
            <a:r>
              <a:rPr lang="en-US" sz="1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</a:p>
        </p:txBody>
      </p:sp>
      <p:pic>
        <p:nvPicPr>
          <p:cNvPr id="6" name="Εικόνα 5">
            <a:extLst>
              <a:ext uri="{FF2B5EF4-FFF2-40B4-BE49-F238E27FC236}">
                <a16:creationId xmlns:a16="http://schemas.microsoft.com/office/drawing/2014/main" id="{0B117B9B-5CE8-6030-4832-E47BEBC191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3071" y="3818714"/>
            <a:ext cx="8268929" cy="1395571"/>
          </a:xfrm>
          <a:prstGeom prst="rect">
            <a:avLst/>
          </a:prstGeom>
        </p:spPr>
      </p:pic>
      <p:cxnSp>
        <p:nvCxnSpPr>
          <p:cNvPr id="8" name="Ευθεία γραμμή σύνδεσης 7">
            <a:extLst>
              <a:ext uri="{FF2B5EF4-FFF2-40B4-BE49-F238E27FC236}">
                <a16:creationId xmlns:a16="http://schemas.microsoft.com/office/drawing/2014/main" id="{11A7CEE3-8EA3-E78B-D950-94A1605DDBC2}"/>
              </a:ext>
            </a:extLst>
          </p:cNvPr>
          <p:cNvCxnSpPr/>
          <p:nvPr/>
        </p:nvCxnSpPr>
        <p:spPr>
          <a:xfrm>
            <a:off x="2418735" y="5329084"/>
            <a:ext cx="9703842" cy="0"/>
          </a:xfrm>
          <a:prstGeom prst="line">
            <a:avLst/>
          </a:prstGeom>
          <a:ln w="762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Εικόνα 9" descr="Εικόνα που περιέχει στιγμιότυπο οθόνης, ηλεκτρονικές συσκευές, λογισμικό πολυμέσων, λογισμικό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CF435BF9-F446-8B0F-700B-19A0E58295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3130" y="5345670"/>
            <a:ext cx="8358870" cy="1380944"/>
          </a:xfrm>
          <a:prstGeom prst="rect">
            <a:avLst/>
          </a:prstGeom>
        </p:spPr>
      </p:pic>
      <p:sp>
        <p:nvSpPr>
          <p:cNvPr id="12" name="Οβάλ 11">
            <a:extLst>
              <a:ext uri="{FF2B5EF4-FFF2-40B4-BE49-F238E27FC236}">
                <a16:creationId xmlns:a16="http://schemas.microsoft.com/office/drawing/2014/main" id="{945DF45E-30ED-797E-B883-801F6358CF03}"/>
              </a:ext>
            </a:extLst>
          </p:cNvPr>
          <p:cNvSpPr/>
          <p:nvPr/>
        </p:nvSpPr>
        <p:spPr>
          <a:xfrm>
            <a:off x="11411640" y="4483510"/>
            <a:ext cx="632875" cy="714188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pic>
        <p:nvPicPr>
          <p:cNvPr id="15" name="Εικόνα 14">
            <a:extLst>
              <a:ext uri="{FF2B5EF4-FFF2-40B4-BE49-F238E27FC236}">
                <a16:creationId xmlns:a16="http://schemas.microsoft.com/office/drawing/2014/main" id="{B9A30EFF-FE88-34EF-1940-92372C8D5C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57961" y="6042434"/>
            <a:ext cx="634039" cy="749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532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DCC5E-F986-C7EF-0D04-E94E30201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1DC6ABA9-23AE-49F4-34FB-263406D05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z="32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Λειτουργία σε Πραγματικό </a:t>
            </a:r>
            <a:r>
              <a:rPr lang="en-US" sz="32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Hardware - User Flow</a:t>
            </a:r>
            <a:br>
              <a:rPr lang="el-GR" dirty="0"/>
            </a:br>
            <a:endParaRPr lang="el-GR" dirty="0"/>
          </a:p>
        </p:txBody>
      </p:sp>
      <p:cxnSp>
        <p:nvCxnSpPr>
          <p:cNvPr id="4" name="Ευθεία γραμμή σύνδεσης 3">
            <a:extLst>
              <a:ext uri="{FF2B5EF4-FFF2-40B4-BE49-F238E27FC236}">
                <a16:creationId xmlns:a16="http://schemas.microsoft.com/office/drawing/2014/main" id="{867F1899-A2D6-CF28-9AD9-ED5702EEEC14}"/>
              </a:ext>
            </a:extLst>
          </p:cNvPr>
          <p:cNvCxnSpPr>
            <a:cxnSpLocks/>
          </p:cNvCxnSpPr>
          <p:nvPr/>
        </p:nvCxnSpPr>
        <p:spPr>
          <a:xfrm>
            <a:off x="2488158" y="1399026"/>
            <a:ext cx="8632126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Θέση περιεχομένου 4">
            <a:extLst>
              <a:ext uri="{FF2B5EF4-FFF2-40B4-BE49-F238E27FC236}">
                <a16:creationId xmlns:a16="http://schemas.microsoft.com/office/drawing/2014/main" id="{87AC1EE7-E52F-8885-91DC-D12BB74027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8735" y="1317523"/>
            <a:ext cx="9773266" cy="554047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l-GR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l-GR" b="1" i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Διαδικασία Λειτουργίας Συστήματος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									</a:t>
            </a:r>
          </a:p>
          <a:p>
            <a:pPr marL="0" indent="0">
              <a:buNone/>
            </a:pPr>
            <a:r>
              <a:rPr lang="el-GR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  </a:t>
            </a:r>
            <a:r>
              <a:rPr lang="el-G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Αρχικοποίηση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endParaRPr lang="el-GR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85800" lvl="1"/>
            <a:r>
              <a:rPr lang="el-G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Το σύστημα εμφανίζει στο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Terminal: “Give me your Plaintext: “</a:t>
            </a:r>
          </a:p>
          <a:p>
            <a:pPr marL="685800" lvl="1"/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χρήστης εισάγει το μήνυμα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π.χ.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 My name is Mike.”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l-GR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 </a:t>
            </a:r>
            <a:r>
              <a:rPr lang="el-G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Εισαγωγή Κλειδιού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685800" lvl="1"/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Εμφανίζεται</a:t>
            </a:r>
            <a:r>
              <a:rPr lang="el-G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“Give me your private Key: “</a:t>
            </a:r>
          </a:p>
          <a:p>
            <a:pPr marL="685800" lvl="1"/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Ο χρήστης εισάγει το κλειδί (ανάλογο της έκδοσης που έχουμε τρέξει)</a:t>
            </a:r>
          </a:p>
          <a:p>
            <a:pPr>
              <a:buAutoNum type="arabicPeriod" startAt="3"/>
            </a:pPr>
            <a:r>
              <a:rPr lang="el-G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Εκκίνηση Κρυπτογράφησης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685800" lvl="1"/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Ο χρήστης ενεργοποιεί πρώτα τον διακόπτη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start_enc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και έπειτα το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aes_enable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685800" lvl="1"/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Μόλις δούμε το πρώτο αποτέλεσμα στα 7-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HEX,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απενεργοποιούμε το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start_enc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και αφήνουμε τον αλγόριθμο να τρέξει μέχρι το κρυπτογραφημένο μήνυμα.</a:t>
            </a:r>
          </a:p>
          <a:p>
            <a:pPr>
              <a:buAutoNum type="arabicPeriod" startAt="4"/>
            </a:pPr>
            <a:r>
              <a:rPr lang="el-G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Αποκρυπτογράφηση και Επαλήθευση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685800" lvl="1"/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Μόλις ληφθεί το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ciphertext,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απενεργοποιείται το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aes_enable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685800" lvl="1"/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Ενεργοποιείται το σήμα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encrypt/decrypt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για αποκρυπτογράφηση </a:t>
            </a:r>
          </a:p>
          <a:p>
            <a:pPr marL="685800" lvl="1"/>
            <a:r>
              <a:rPr lang="el-G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Επανεργοποίηση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του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aes_enable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εμφανίζονται τα ενδιάμεσα αποτελέσματα της αποκρυπτογράφησης</a:t>
            </a:r>
          </a:p>
          <a:p>
            <a:pPr marL="685800" lvl="1"/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Το </a:t>
            </a:r>
            <a:r>
              <a:rPr lang="el-G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αποκρυπτογραφημένο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μήνυμα εμφανίζεται στο δεύτερο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Terminal(Putty),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επιβεβαιώνοντας την επιτυχία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85800" lvl="1"/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85641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B5C08-EC4E-7195-7157-8543A7C1C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21075A4C-2A60-111B-20BE-975D1E41B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z="32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Μετρήσεις Πόρων και Απόδοσης στο </a:t>
            </a:r>
            <a:r>
              <a:rPr lang="en-US" sz="32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FPGA </a:t>
            </a:r>
            <a:br>
              <a:rPr lang="el-GR" dirty="0"/>
            </a:br>
            <a:endParaRPr lang="el-GR" dirty="0"/>
          </a:p>
        </p:txBody>
      </p:sp>
      <p:cxnSp>
        <p:nvCxnSpPr>
          <p:cNvPr id="4" name="Ευθεία γραμμή σύνδεσης 3">
            <a:extLst>
              <a:ext uri="{FF2B5EF4-FFF2-40B4-BE49-F238E27FC236}">
                <a16:creationId xmlns:a16="http://schemas.microsoft.com/office/drawing/2014/main" id="{9D46421C-3DC3-9B9C-9DA7-8A825CCBCC80}"/>
              </a:ext>
            </a:extLst>
          </p:cNvPr>
          <p:cNvCxnSpPr>
            <a:cxnSpLocks/>
          </p:cNvCxnSpPr>
          <p:nvPr/>
        </p:nvCxnSpPr>
        <p:spPr>
          <a:xfrm>
            <a:off x="2488158" y="1399026"/>
            <a:ext cx="8632126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Θέση περιεχομένου 4">
            <a:extLst>
              <a:ext uri="{FF2B5EF4-FFF2-40B4-BE49-F238E27FC236}">
                <a16:creationId xmlns:a16="http://schemas.microsoft.com/office/drawing/2014/main" id="{3BE91361-160A-70B5-C3D2-2ACD747E5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8735" y="1317523"/>
            <a:ext cx="9773266" cy="5540477"/>
          </a:xfrm>
        </p:spPr>
        <p:txBody>
          <a:bodyPr>
            <a:normAutofit/>
          </a:bodyPr>
          <a:lstStyle/>
          <a:p>
            <a:pPr marL="685800" lvl="1"/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l-GR" b="1" i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Αξιοποίηση Πόρων </a:t>
            </a:r>
            <a:r>
              <a:rPr lang="en-US" b="1" i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Cyclone II EP2C35F672C6</a:t>
            </a:r>
            <a:endParaRPr lang="el-GR" b="1" i="1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l-GR" b="1" i="1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l-GR" b="1" i="1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l-GR" b="1" i="1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l-GR" b="1" i="1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l-GR" b="1" i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Χρονισμοί Πυρήνα </a:t>
            </a:r>
            <a:r>
              <a:rPr lang="en-US" b="1" i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AES</a:t>
            </a:r>
          </a:p>
          <a:p>
            <a:pPr marL="0" indent="0">
              <a:buNone/>
            </a:pPr>
            <a:endParaRPr lang="el-GR" b="1" i="1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>
              <a:buNone/>
            </a:pPr>
            <a:endParaRPr lang="en-US" sz="1800" b="1" i="1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" name="Πίνακας 2">
            <a:extLst>
              <a:ext uri="{FF2B5EF4-FFF2-40B4-BE49-F238E27FC236}">
                <a16:creationId xmlns:a16="http://schemas.microsoft.com/office/drawing/2014/main" id="{59D2A1D0-5D6C-DE05-5500-838E3681D123}"/>
              </a:ext>
            </a:extLst>
          </p:cNvPr>
          <p:cNvGraphicFramePr>
            <a:graphicFrameLocks noGrp="1"/>
          </p:cNvGraphicFramePr>
          <p:nvPr/>
        </p:nvGraphicFramePr>
        <p:xfrm>
          <a:off x="2592925" y="2092441"/>
          <a:ext cx="9107463" cy="1452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0856">
                  <a:extLst>
                    <a:ext uri="{9D8B030D-6E8A-4147-A177-3AD203B41FA5}">
                      <a16:colId xmlns:a16="http://schemas.microsoft.com/office/drawing/2014/main" val="3584718427"/>
                    </a:ext>
                  </a:extLst>
                </a:gridCol>
                <a:gridCol w="1738980">
                  <a:extLst>
                    <a:ext uri="{9D8B030D-6E8A-4147-A177-3AD203B41FA5}">
                      <a16:colId xmlns:a16="http://schemas.microsoft.com/office/drawing/2014/main" val="2157808886"/>
                    </a:ext>
                  </a:extLst>
                </a:gridCol>
                <a:gridCol w="1574491">
                  <a:extLst>
                    <a:ext uri="{9D8B030D-6E8A-4147-A177-3AD203B41FA5}">
                      <a16:colId xmlns:a16="http://schemas.microsoft.com/office/drawing/2014/main" val="1075097099"/>
                    </a:ext>
                  </a:extLst>
                </a:gridCol>
                <a:gridCol w="1581250">
                  <a:extLst>
                    <a:ext uri="{9D8B030D-6E8A-4147-A177-3AD203B41FA5}">
                      <a16:colId xmlns:a16="http://schemas.microsoft.com/office/drawing/2014/main" val="2316238615"/>
                    </a:ext>
                  </a:extLst>
                </a:gridCol>
                <a:gridCol w="1751886">
                  <a:extLst>
                    <a:ext uri="{9D8B030D-6E8A-4147-A177-3AD203B41FA5}">
                      <a16:colId xmlns:a16="http://schemas.microsoft.com/office/drawing/2014/main" val="2022719340"/>
                    </a:ext>
                  </a:extLst>
                </a:gridCol>
              </a:tblGrid>
              <a:tr h="277062">
                <a:tc>
                  <a:txBody>
                    <a:bodyPr/>
                    <a:lstStyle/>
                    <a:p>
                      <a:pPr algn="ctr"/>
                      <a:r>
                        <a:rPr lang="el-GR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Πόρος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Διαθέσιμο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AES-128</a:t>
                      </a:r>
                      <a:endParaRPr lang="el-GR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AES-192</a:t>
                      </a:r>
                      <a:endParaRPr lang="el-GR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AES-256</a:t>
                      </a:r>
                      <a:endParaRPr lang="el-GR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248221"/>
                  </a:ext>
                </a:extLst>
              </a:tr>
              <a:tr h="4143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Logic Elements(LEs)</a:t>
                      </a:r>
                      <a:endParaRPr lang="el-GR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33,216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17,216  (52%)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15,321 (46%)</a:t>
                      </a:r>
                      <a:endParaRPr lang="el-GR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20,659    (62%)</a:t>
                      </a:r>
                      <a:endParaRPr lang="el-GR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7487710"/>
                  </a:ext>
                </a:extLst>
              </a:tr>
              <a:tr h="36809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Dedicated Registers</a:t>
                      </a:r>
                      <a:endParaRPr lang="el-GR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34,593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950 (3%)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1,014 (3%)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1,080 (3%)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3019681"/>
                  </a:ext>
                </a:extLst>
              </a:tr>
              <a:tr h="27706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M4K Blocks</a:t>
                      </a:r>
                      <a:endParaRPr lang="el-GR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16 (15%)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16 (15%)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16 (15%)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7001122"/>
                  </a:ext>
                </a:extLst>
              </a:tr>
            </a:tbl>
          </a:graphicData>
        </a:graphic>
      </p:graphicFrame>
      <p:graphicFrame>
        <p:nvGraphicFramePr>
          <p:cNvPr id="6" name="Πίνακας 5">
            <a:extLst>
              <a:ext uri="{FF2B5EF4-FFF2-40B4-BE49-F238E27FC236}">
                <a16:creationId xmlns:a16="http://schemas.microsoft.com/office/drawing/2014/main" id="{3B7F2617-4A9B-463F-C540-61AF2F87C5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7671540"/>
              </p:ext>
            </p:extLst>
          </p:nvPr>
        </p:nvGraphicFramePr>
        <p:xfrm>
          <a:off x="2143434" y="4150294"/>
          <a:ext cx="10048566" cy="26142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2865">
                  <a:extLst>
                    <a:ext uri="{9D8B030D-6E8A-4147-A177-3AD203B41FA5}">
                      <a16:colId xmlns:a16="http://schemas.microsoft.com/office/drawing/2014/main" val="2606008501"/>
                    </a:ext>
                  </a:extLst>
                </a:gridCol>
                <a:gridCol w="1356851">
                  <a:extLst>
                    <a:ext uri="{9D8B030D-6E8A-4147-A177-3AD203B41FA5}">
                      <a16:colId xmlns:a16="http://schemas.microsoft.com/office/drawing/2014/main" val="1228448233"/>
                    </a:ext>
                  </a:extLst>
                </a:gridCol>
                <a:gridCol w="1691149">
                  <a:extLst>
                    <a:ext uri="{9D8B030D-6E8A-4147-A177-3AD203B41FA5}">
                      <a16:colId xmlns:a16="http://schemas.microsoft.com/office/drawing/2014/main" val="4101253558"/>
                    </a:ext>
                  </a:extLst>
                </a:gridCol>
                <a:gridCol w="1445342">
                  <a:extLst>
                    <a:ext uri="{9D8B030D-6E8A-4147-A177-3AD203B41FA5}">
                      <a16:colId xmlns:a16="http://schemas.microsoft.com/office/drawing/2014/main" val="1631940422"/>
                    </a:ext>
                  </a:extLst>
                </a:gridCol>
                <a:gridCol w="2792359">
                  <a:extLst>
                    <a:ext uri="{9D8B030D-6E8A-4147-A177-3AD203B41FA5}">
                      <a16:colId xmlns:a16="http://schemas.microsoft.com/office/drawing/2014/main" val="1249056164"/>
                    </a:ext>
                  </a:extLst>
                </a:gridCol>
              </a:tblGrid>
              <a:tr h="628874">
                <a:tc>
                  <a:txBody>
                    <a:bodyPr/>
                    <a:lstStyle/>
                    <a:p>
                      <a:pPr algn="ctr"/>
                      <a:r>
                        <a:rPr lang="el-GR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Μέτρο Απόδοσης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AES-128</a:t>
                      </a:r>
                      <a:endParaRPr lang="el-GR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l-GR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AES-192</a:t>
                      </a:r>
                      <a:endParaRPr lang="el-GR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l-GR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AES-256</a:t>
                      </a:r>
                      <a:endParaRPr lang="el-GR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l-GR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Σχόλιο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9498074"/>
                  </a:ext>
                </a:extLst>
              </a:tr>
              <a:tr h="46288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Fmax </a:t>
                      </a:r>
                      <a:r>
                        <a:rPr lang="el-GR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Συστήματος(</a:t>
                      </a:r>
                      <a:r>
                        <a:rPr lang="en-US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Clock_50)</a:t>
                      </a:r>
                      <a:endParaRPr lang="el-GR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165.32 MHz</a:t>
                      </a:r>
                      <a:endParaRPr lang="el-GR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183.02 MHz</a:t>
                      </a:r>
                      <a:endParaRPr lang="el-GR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175.25 MHz</a:t>
                      </a:r>
                      <a:endParaRPr lang="el-GR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Υψηλή </a:t>
                      </a:r>
                      <a:r>
                        <a:rPr lang="el-GR" sz="14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Συχνότητσ</a:t>
                      </a:r>
                      <a:endParaRPr lang="el-GR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2573438"/>
                  </a:ext>
                </a:extLst>
              </a:tr>
              <a:tr h="33098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Fmax </a:t>
                      </a:r>
                      <a:r>
                        <a:rPr lang="el-GR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πυρήνα </a:t>
                      </a:r>
                      <a:r>
                        <a:rPr lang="en-US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AES(</a:t>
                      </a:r>
                      <a:r>
                        <a:rPr lang="en-US" sz="14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clk_new</a:t>
                      </a:r>
                      <a:r>
                        <a:rPr lang="en-US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l-GR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94.7 MHz</a:t>
                      </a:r>
                      <a:endParaRPr lang="el-GR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94.41 MHz</a:t>
                      </a:r>
                      <a:endParaRPr lang="el-GR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85.7 MHz</a:t>
                      </a:r>
                      <a:endParaRPr lang="el-GR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Βελτιστοποιημένο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7571480"/>
                  </a:ext>
                </a:extLst>
              </a:tr>
              <a:tr h="330986">
                <a:tc>
                  <a:txBody>
                    <a:bodyPr/>
                    <a:lstStyle/>
                    <a:p>
                      <a:pPr algn="ctr"/>
                      <a:r>
                        <a:rPr lang="el-GR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Συνολικοί Κύκλοι(</a:t>
                      </a:r>
                      <a:r>
                        <a:rPr lang="en-US" sz="14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Enc+Dec</a:t>
                      </a:r>
                      <a:r>
                        <a:rPr lang="en-US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l-GR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Πλήρη Επεξεργασία </a:t>
                      </a:r>
                      <a:r>
                        <a:rPr lang="en-US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AES</a:t>
                      </a:r>
                      <a:endParaRPr lang="el-GR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2466118"/>
                  </a:ext>
                </a:extLst>
              </a:tr>
              <a:tr h="330986">
                <a:tc>
                  <a:txBody>
                    <a:bodyPr/>
                    <a:lstStyle/>
                    <a:p>
                      <a:pPr algn="ctr"/>
                      <a:r>
                        <a:rPr lang="el-GR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Χρόνος Επεξεργασίας </a:t>
                      </a:r>
                      <a:r>
                        <a:rPr lang="en-US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AES</a:t>
                      </a:r>
                      <a:endParaRPr lang="el-GR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~ 0.23 </a:t>
                      </a:r>
                      <a:r>
                        <a:rPr lang="el-GR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μ</a:t>
                      </a:r>
                      <a:r>
                        <a:rPr lang="en-US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  <a:endParaRPr lang="el-GR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~ 0.28 </a:t>
                      </a:r>
                      <a:r>
                        <a:rPr lang="el-GR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μ</a:t>
                      </a:r>
                      <a:r>
                        <a:rPr lang="en-US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  <a:endParaRPr lang="el-GR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~ 0.35 </a:t>
                      </a:r>
                      <a:r>
                        <a:rPr lang="el-GR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μ</a:t>
                      </a:r>
                      <a:r>
                        <a:rPr lang="en-US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  <a:endParaRPr lang="el-GR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Ncycles</a:t>
                      </a:r>
                      <a:r>
                        <a:rPr lang="en-US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/Fmax AES</a:t>
                      </a:r>
                      <a:endParaRPr lang="el-GR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1769676"/>
                  </a:ext>
                </a:extLst>
              </a:tr>
              <a:tr h="52957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Throughout </a:t>
                      </a:r>
                      <a:r>
                        <a:rPr lang="el-GR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Πυρήνα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551 Mbps</a:t>
                      </a:r>
                      <a:endParaRPr lang="el-GR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465 Mbps</a:t>
                      </a:r>
                      <a:endParaRPr lang="el-GR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366 Mbps</a:t>
                      </a:r>
                      <a:endParaRPr lang="el-GR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(128(bits/cycle) * Fmax)/</a:t>
                      </a:r>
                      <a:r>
                        <a:rPr lang="en-US" sz="12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Ncycles</a:t>
                      </a:r>
                      <a:endParaRPr lang="el-GR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l-GR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1344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77411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E54E4-0327-8011-45ED-311D1DC4D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C752B63D-0EE2-D018-22D1-6615BCEB3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l-GR" sz="32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Ανάλυση Πειραματικής Αξιολόγησης και Παρατηρήσεις</a:t>
            </a:r>
            <a:br>
              <a:rPr lang="el-GR" dirty="0"/>
            </a:br>
            <a:endParaRPr lang="el-GR" dirty="0"/>
          </a:p>
        </p:txBody>
      </p:sp>
      <p:cxnSp>
        <p:nvCxnSpPr>
          <p:cNvPr id="4" name="Ευθεία γραμμή σύνδεσης 3">
            <a:extLst>
              <a:ext uri="{FF2B5EF4-FFF2-40B4-BE49-F238E27FC236}">
                <a16:creationId xmlns:a16="http://schemas.microsoft.com/office/drawing/2014/main" id="{46628F75-6518-099A-138A-FDBFC4B1DA07}"/>
              </a:ext>
            </a:extLst>
          </p:cNvPr>
          <p:cNvCxnSpPr>
            <a:cxnSpLocks/>
          </p:cNvCxnSpPr>
          <p:nvPr/>
        </p:nvCxnSpPr>
        <p:spPr>
          <a:xfrm>
            <a:off x="2488158" y="1399026"/>
            <a:ext cx="8632126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Θέση περιεχομένου 4">
            <a:extLst>
              <a:ext uri="{FF2B5EF4-FFF2-40B4-BE49-F238E27FC236}">
                <a16:creationId xmlns:a16="http://schemas.microsoft.com/office/drawing/2014/main" id="{7C8FF007-0FFC-6A04-4F0F-2EA4FD0375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8735" y="1317523"/>
            <a:ext cx="9773266" cy="554047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l-GR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l-GR" b="1" i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Βασικές Παρατηρήσεις</a:t>
            </a:r>
          </a:p>
          <a:p>
            <a:r>
              <a:rPr lang="el-G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Επιτυχής Επαλήθευση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Πλήρης Λειτουργία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Cipher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και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InvCipher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για όλες τις εκδόσεις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Επιτυχής αναπαραγωγή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NIST Test Vectors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</a:p>
          <a:p>
            <a:r>
              <a:rPr lang="el-G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Υψηλή Απόδοση Πυρήνα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AES: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Throughout 366-551 Mbps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για πλήρη επεξεργασία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Χρόνοι επεξεργασίας &lt; 0.35 μ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Σταθερή Λειτουργία στα 85-95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MHz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</a:p>
          <a:p>
            <a:r>
              <a:rPr lang="el-G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Αποδοτική Χρήση Πόρων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Βασική κατανάλωση σε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LEs(46-62%)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Ελάχιστη χρήση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Registers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και μνήμης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l-G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Μη-γραμμική βελτιστοποίηση(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AES-192: -11% LEs vs AES-128)</a:t>
            </a:r>
          </a:p>
          <a:p>
            <a:r>
              <a:rPr lang="el-G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Σταθερός σχεδιασμός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Επιτυχής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timing closure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και για τα δύο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clock domains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Αξιόπιστη Λειτουργία σε πραγματικό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Hardware.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				</a:t>
            </a: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26808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D44D6A-43E9-50C4-8A44-BAB9EFBCA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7">
            <a:extLst>
              <a:ext uri="{FF2B5EF4-FFF2-40B4-BE49-F238E27FC236}">
                <a16:creationId xmlns:a16="http://schemas.microsoft.com/office/drawing/2014/main" id="{AF144DCF-F0F6-146C-B4F8-EA6BEA779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Διάγραμμα 3">
            <a:extLst>
              <a:ext uri="{FF2B5EF4-FFF2-40B4-BE49-F238E27FC236}">
                <a16:creationId xmlns:a16="http://schemas.microsoft.com/office/drawing/2014/main" id="{A5904F08-A47A-18C0-2E4C-60F47BE062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64902666"/>
              </p:ext>
            </p:extLst>
          </p:nvPr>
        </p:nvGraphicFramePr>
        <p:xfrm>
          <a:off x="3225298" y="2826740"/>
          <a:ext cx="8838093" cy="12808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9" name="Rectangle 9">
            <a:extLst>
              <a:ext uri="{FF2B5EF4-FFF2-40B4-BE49-F238E27FC236}">
                <a16:creationId xmlns:a16="http://schemas.microsoft.com/office/drawing/2014/main" id="{6BC25278-C63D-58EA-9CB9-07900DD2ED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285151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" name="Group 11">
            <a:extLst>
              <a:ext uri="{FF2B5EF4-FFF2-40B4-BE49-F238E27FC236}">
                <a16:creationId xmlns:a16="http://schemas.microsoft.com/office/drawing/2014/main" id="{FE3CF098-8323-2A5F-1B7E-5FABA00936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  <a:solidFill>
            <a:schemeClr val="tx2">
              <a:lumMod val="60000"/>
              <a:lumOff val="40000"/>
              <a:alpha val="40000"/>
            </a:schemeClr>
          </a:solidFill>
        </p:grpSpPr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1D7C8647-B62E-3937-5CBF-6F3CA51C5F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B78D4A1E-E61A-1B74-0D33-8DAADD3638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B003CC2E-8252-28DC-C543-2E8BF84157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B94D5B10-C694-36DA-2274-D360708B9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113BDF09-B759-D479-9860-8D57D11B40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FE35A709-37FA-8771-97DE-B778D79D9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20B9ABD3-62CD-5F97-05FA-C39332BAFF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0" name="Freeform 18">
              <a:extLst>
                <a:ext uri="{FF2B5EF4-FFF2-40B4-BE49-F238E27FC236}">
                  <a16:creationId xmlns:a16="http://schemas.microsoft.com/office/drawing/2014/main" id="{353DEA43-4B03-E187-2D01-1493FEFEF6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1" name="Freeform 19">
              <a:extLst>
                <a:ext uri="{FF2B5EF4-FFF2-40B4-BE49-F238E27FC236}">
                  <a16:creationId xmlns:a16="http://schemas.microsoft.com/office/drawing/2014/main" id="{495CB420-D012-4AC2-2122-B38D36932D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D19D23F8-37B4-A9F2-3C6B-6F1CAC01B1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4CF3F103-81EF-32FE-FCCE-C8CFF1154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65850EB2-EA85-BBEA-73EC-8A060978AC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516C919-A896-97B6-8ED7-1515DD3C65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  <a:solidFill>
            <a:schemeClr val="tx2">
              <a:lumMod val="75000"/>
              <a:alpha val="70000"/>
            </a:schemeClr>
          </a:solidFill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C41B327B-6713-801A-BDA0-2A8C26B917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E74F449A-A102-18AD-0EB4-55CC1E0893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03EF5506-242C-2130-9600-0ED83A254B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4194DE34-8A7D-A8C8-E389-5AB7397EC9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1DF35020-B2BC-B34A-3828-EA7EDB5969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31AF1896-FE5F-22EB-D166-D5D3F4E10A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3" name="Freeform 33">
              <a:extLst>
                <a:ext uri="{FF2B5EF4-FFF2-40B4-BE49-F238E27FC236}">
                  <a16:creationId xmlns:a16="http://schemas.microsoft.com/office/drawing/2014/main" id="{568750CF-01F1-6A8A-69E4-0B3001A43D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4" name="Freeform 34">
              <a:extLst>
                <a:ext uri="{FF2B5EF4-FFF2-40B4-BE49-F238E27FC236}">
                  <a16:creationId xmlns:a16="http://schemas.microsoft.com/office/drawing/2014/main" id="{9445E491-F701-4CFD-9655-79848E45F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5" name="Freeform 35">
              <a:extLst>
                <a:ext uri="{FF2B5EF4-FFF2-40B4-BE49-F238E27FC236}">
                  <a16:creationId xmlns:a16="http://schemas.microsoft.com/office/drawing/2014/main" id="{C6E685B8-CF54-4AAF-310C-7B9FC722E2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E42DBDA1-6D2D-7DA9-2531-45529864C5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CB3411C6-5596-A8D2-7E42-889C225EEC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EF19C4D1-F7B9-F0A9-869F-BF5F1DA912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</p:grpSp>
      <p:sp>
        <p:nvSpPr>
          <p:cNvPr id="40" name="Freeform 11">
            <a:extLst>
              <a:ext uri="{FF2B5EF4-FFF2-40B4-BE49-F238E27FC236}">
                <a16:creationId xmlns:a16="http://schemas.microsoft.com/office/drawing/2014/main" id="{8B12FEBD-C4F2-64FC-BE53-5E3AB5D49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411452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8308267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3A7DA-A1C7-8521-F757-95A382773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F5CAFF07-980C-68B9-85D6-F89CD4B46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l-GR" sz="32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Κύρια Συμπεράσματα</a:t>
            </a:r>
            <a:br>
              <a:rPr lang="el-GR" dirty="0"/>
            </a:br>
            <a:endParaRPr lang="el-GR" dirty="0"/>
          </a:p>
        </p:txBody>
      </p:sp>
      <p:cxnSp>
        <p:nvCxnSpPr>
          <p:cNvPr id="4" name="Ευθεία γραμμή σύνδεσης 3">
            <a:extLst>
              <a:ext uri="{FF2B5EF4-FFF2-40B4-BE49-F238E27FC236}">
                <a16:creationId xmlns:a16="http://schemas.microsoft.com/office/drawing/2014/main" id="{97DCE88E-57F5-9438-A756-0EEAB707E7A8}"/>
              </a:ext>
            </a:extLst>
          </p:cNvPr>
          <p:cNvCxnSpPr>
            <a:cxnSpLocks/>
          </p:cNvCxnSpPr>
          <p:nvPr/>
        </p:nvCxnSpPr>
        <p:spPr>
          <a:xfrm>
            <a:off x="2488158" y="1399026"/>
            <a:ext cx="8632126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Θέση περιεχομένου 4">
            <a:extLst>
              <a:ext uri="{FF2B5EF4-FFF2-40B4-BE49-F238E27FC236}">
                <a16:creationId xmlns:a16="http://schemas.microsoft.com/office/drawing/2014/main" id="{25965F97-95D1-2798-CEC5-B9B3FDAB6E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8735" y="1317523"/>
            <a:ext cx="9773266" cy="554047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l-GR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l-G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Βιωσιμότητα </a:t>
            </a:r>
            <a:r>
              <a:rPr lang="el-GR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Hardware</a:t>
            </a:r>
            <a:r>
              <a:rPr lang="el-G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l-G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Αποδοτική υλοποίηση σύγχρονης κρυπτογραφίας σε προσιτά FPGA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Αξιόπιστη προστασία για </a:t>
            </a:r>
            <a:r>
              <a:rPr lang="el-G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embedded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systems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ακόμα και σε παλαιότερες πλατφόρμες</a:t>
            </a:r>
          </a:p>
          <a:p>
            <a:r>
              <a:rPr lang="el-G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Ολοκληρωμένη Σχεδίαση:</a:t>
            </a:r>
            <a:endParaRPr lang="el-G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Επιτυχής ροή από προσομοίωση έως πραγματικό </a:t>
            </a:r>
            <a:r>
              <a:rPr lang="el-G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hardware</a:t>
            </a:r>
            <a:endParaRPr lang="el-G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Αποδεδειγμένη αρχιτεκτονική πολλαπλών </a:t>
            </a:r>
            <a:r>
              <a:rPr lang="el-G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clock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domains</a:t>
            </a:r>
            <a:endParaRPr lang="el-G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l-G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Ευελιξία Σχεδιασμού:</a:t>
            </a:r>
            <a:endParaRPr lang="el-G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Εγγενής υποστήριξη τριών μεγεθών κλειδιού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Εύκολη μεταφορά σε άλλες πλατφόρμες FPGA μέσω VHDL</a:t>
            </a:r>
          </a:p>
          <a:p>
            <a:r>
              <a:rPr lang="el-G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Πρακτική Αξία:</a:t>
            </a:r>
            <a:endParaRPr lang="el-G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Λειτουργικό πρωτότυπο πλήρους συστήματος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Βασικό δομικό στοιχείο για ασφαλή συστήματα επικοινωνίας</a:t>
            </a:r>
          </a:p>
          <a:p>
            <a:pPr marL="400050" lvl="1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			</a:t>
            </a: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42719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5AB23-A425-C215-B0A3-016A68B68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497C80CD-5229-3188-AC5E-5431BC05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l-GR" sz="32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Μελλοντικές Επεκτάσεις</a:t>
            </a:r>
            <a:br>
              <a:rPr lang="el-GR" dirty="0"/>
            </a:br>
            <a:endParaRPr lang="el-GR" dirty="0"/>
          </a:p>
        </p:txBody>
      </p:sp>
      <p:cxnSp>
        <p:nvCxnSpPr>
          <p:cNvPr id="4" name="Ευθεία γραμμή σύνδεσης 3">
            <a:extLst>
              <a:ext uri="{FF2B5EF4-FFF2-40B4-BE49-F238E27FC236}">
                <a16:creationId xmlns:a16="http://schemas.microsoft.com/office/drawing/2014/main" id="{5A83B087-9C1C-4D80-9373-AB7273668687}"/>
              </a:ext>
            </a:extLst>
          </p:cNvPr>
          <p:cNvCxnSpPr>
            <a:cxnSpLocks/>
          </p:cNvCxnSpPr>
          <p:nvPr/>
        </p:nvCxnSpPr>
        <p:spPr>
          <a:xfrm>
            <a:off x="2488158" y="1399026"/>
            <a:ext cx="8632126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Θέση περιεχομένου 4">
            <a:extLst>
              <a:ext uri="{FF2B5EF4-FFF2-40B4-BE49-F238E27FC236}">
                <a16:creationId xmlns:a16="http://schemas.microsoft.com/office/drawing/2014/main" id="{C878B37A-BEB7-C30F-B0DE-E69C21ADEB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8735" y="1317523"/>
            <a:ext cx="9773266" cy="554047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l-GR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l-G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Βελτιστοποιήσεις Απόδοσης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Υλοποίηση </a:t>
            </a:r>
            <a:r>
              <a:rPr lang="el-G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διεπαφής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επικοινωνίας με υψηλότερη ταχύτητα(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Ethernet)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αντί για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UART</a:t>
            </a:r>
            <a:endParaRPr lang="el-G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Χρήση πιο σύγχρονων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FPGA(Cyclone V/10)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για καλύτερη συχνότητα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endParaRPr lang="el-GR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00050" lvl="1" indent="0">
              <a:buNone/>
            </a:pPr>
            <a:endParaRPr lang="el-GR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l-G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Λειτουργικές Επεκτάσεις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l-GR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Υποστήριξη άλλων λειτουργιών κρυπτογράφησης(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CBC,CTR,GCM)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Ενσωμάτωση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SHA-256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για πλήρη πρωτόκολλα ασφαλείας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Προστασία από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side-channel attacks</a:t>
            </a:r>
            <a:endParaRPr lang="el-G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00050" lvl="1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l-G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Εφαρμογές Συστήματος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Ενσωμάτωση σε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embedded </a:t>
            </a:r>
            <a:r>
              <a:rPr lang="el-G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συστηματα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για ασφαλή επικοινωνία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Χρήση ως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hardware accelerator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σε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SoC designs.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Ανάπτυξη προστασίας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IP cores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με κρυπτογράφηση.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			</a:t>
            </a: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68284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263411-FD91-95EA-30F2-F67935137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7">
            <a:extLst>
              <a:ext uri="{FF2B5EF4-FFF2-40B4-BE49-F238E27FC236}">
                <a16:creationId xmlns:a16="http://schemas.microsoft.com/office/drawing/2014/main" id="{44A057CB-09EC-13BF-6D70-08CDFBDF65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9">
            <a:extLst>
              <a:ext uri="{FF2B5EF4-FFF2-40B4-BE49-F238E27FC236}">
                <a16:creationId xmlns:a16="http://schemas.microsoft.com/office/drawing/2014/main" id="{82135629-CC12-19A1-873B-2B1AEC0479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285151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" name="Group 11">
            <a:extLst>
              <a:ext uri="{FF2B5EF4-FFF2-40B4-BE49-F238E27FC236}">
                <a16:creationId xmlns:a16="http://schemas.microsoft.com/office/drawing/2014/main" id="{76242018-1013-1376-196B-C8BF800C0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  <a:solidFill>
            <a:schemeClr val="tx2">
              <a:lumMod val="60000"/>
              <a:lumOff val="40000"/>
              <a:alpha val="40000"/>
            </a:schemeClr>
          </a:solidFill>
        </p:grpSpPr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158D95CD-C97C-1514-DFBA-3447FA3155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622C9C9F-4D1B-8BEA-61EF-BEFF8F9918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DDB34A49-1504-09EB-E75C-C994F191AC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49CB0AC5-59F5-C2D3-1693-BE1F52DCA3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5E457886-3E45-F269-36E4-2635CC1039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DDE11A00-DBFE-0954-24B6-67C36593EF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7ACADB95-6E54-6ACD-465B-AC3273E09B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0" name="Freeform 18">
              <a:extLst>
                <a:ext uri="{FF2B5EF4-FFF2-40B4-BE49-F238E27FC236}">
                  <a16:creationId xmlns:a16="http://schemas.microsoft.com/office/drawing/2014/main" id="{614ADD40-54E5-181C-0DB3-8A64308EA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1" name="Freeform 19">
              <a:extLst>
                <a:ext uri="{FF2B5EF4-FFF2-40B4-BE49-F238E27FC236}">
                  <a16:creationId xmlns:a16="http://schemas.microsoft.com/office/drawing/2014/main" id="{E8FAC53A-5364-1A96-7317-716A4A497F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B90993BD-F325-7258-51A0-F750BA26C6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8FB052B0-A46C-A561-3D51-D504F80B7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C3DF0F5A-B970-2E4B-F31E-07EED4CA06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E2CA759-D444-D94C-1400-1CA0881D71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  <a:solidFill>
            <a:schemeClr val="tx2">
              <a:lumMod val="75000"/>
              <a:alpha val="70000"/>
            </a:schemeClr>
          </a:solidFill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52D40A10-6211-CA8C-4843-F3FE238567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60E71B21-93FF-E819-47B7-B775217F0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9088FD6C-5C86-4AE3-1FF0-5260D580F7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EB356254-A59A-A9FE-6C56-29320F4792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3B462E59-9893-9212-A430-5364C226F8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78701EF1-F21C-2E1E-AD03-0FC13E8FAF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3" name="Freeform 33">
              <a:extLst>
                <a:ext uri="{FF2B5EF4-FFF2-40B4-BE49-F238E27FC236}">
                  <a16:creationId xmlns:a16="http://schemas.microsoft.com/office/drawing/2014/main" id="{CA018EE8-FBFD-28C5-01D6-D3DF98DAD4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4" name="Freeform 34">
              <a:extLst>
                <a:ext uri="{FF2B5EF4-FFF2-40B4-BE49-F238E27FC236}">
                  <a16:creationId xmlns:a16="http://schemas.microsoft.com/office/drawing/2014/main" id="{DDAC21DF-65FD-F037-06E3-6E08069046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5" name="Freeform 35">
              <a:extLst>
                <a:ext uri="{FF2B5EF4-FFF2-40B4-BE49-F238E27FC236}">
                  <a16:creationId xmlns:a16="http://schemas.microsoft.com/office/drawing/2014/main" id="{51125E37-ADCA-EE5D-00E7-3DBB4C79D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0C5395F1-7000-D125-39BF-0ECFF199D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2214E3DF-24AE-4518-E676-9B54E71E8E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B18BE7A5-4B62-2B78-CBBC-95B0A4041D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</p:grpSp>
      <p:sp>
        <p:nvSpPr>
          <p:cNvPr id="40" name="Freeform 11">
            <a:extLst>
              <a:ext uri="{FF2B5EF4-FFF2-40B4-BE49-F238E27FC236}">
                <a16:creationId xmlns:a16="http://schemas.microsoft.com/office/drawing/2014/main" id="{9CBF4C75-D46D-187E-03CC-84BEE8DCDE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411452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l-G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754433-CF57-619D-79D5-61E1082358D6}"/>
              </a:ext>
            </a:extLst>
          </p:cNvPr>
          <p:cNvSpPr txBox="1"/>
          <p:nvPr/>
        </p:nvSpPr>
        <p:spPr>
          <a:xfrm>
            <a:off x="4100052" y="2300748"/>
            <a:ext cx="678425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2400" b="1" dirty="0">
                <a:solidFill>
                  <a:schemeClr val="accent1"/>
                </a:solidFill>
              </a:rPr>
              <a:t>Σας ευχαριστώ πολύ για τον χρόνο και την προσοχή σας…</a:t>
            </a:r>
          </a:p>
          <a:p>
            <a:pPr algn="ctr"/>
            <a:endParaRPr lang="el-GR" sz="2400" b="1" dirty="0">
              <a:solidFill>
                <a:schemeClr val="accent1"/>
              </a:solidFill>
            </a:endParaRPr>
          </a:p>
          <a:p>
            <a:pPr algn="ctr"/>
            <a:r>
              <a:rPr lang="el-GR" sz="2400" b="1" dirty="0">
                <a:solidFill>
                  <a:schemeClr val="accent1"/>
                </a:solidFill>
              </a:rPr>
              <a:t>Κόντης Μιχαήλ</a:t>
            </a:r>
          </a:p>
        </p:txBody>
      </p:sp>
    </p:spTree>
    <p:extLst>
      <p:ext uri="{BB962C8B-B14F-4D97-AF65-F5344CB8AC3E}">
        <p14:creationId xmlns:p14="http://schemas.microsoft.com/office/powerpoint/2010/main" val="28172538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E21D0B-4D6E-467F-B88F-AB8DDB1CC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7">
            <a:extLst>
              <a:ext uri="{FF2B5EF4-FFF2-40B4-BE49-F238E27FC236}">
                <a16:creationId xmlns:a16="http://schemas.microsoft.com/office/drawing/2014/main" id="{6C9A58A6-8EF3-1377-F0A3-465084873A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Διάγραμμα 3">
            <a:extLst>
              <a:ext uri="{FF2B5EF4-FFF2-40B4-BE49-F238E27FC236}">
                <a16:creationId xmlns:a16="http://schemas.microsoft.com/office/drawing/2014/main" id="{DA8A5E1C-C242-97FD-361B-A0C88F5A1B6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92531009"/>
              </p:ext>
            </p:extLst>
          </p:nvPr>
        </p:nvGraphicFramePr>
        <p:xfrm>
          <a:off x="3225298" y="2826740"/>
          <a:ext cx="8838093" cy="12808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9" name="Rectangle 9">
            <a:extLst>
              <a:ext uri="{FF2B5EF4-FFF2-40B4-BE49-F238E27FC236}">
                <a16:creationId xmlns:a16="http://schemas.microsoft.com/office/drawing/2014/main" id="{0971117C-24BC-26FF-D977-C197874E97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285151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" name="Group 11">
            <a:extLst>
              <a:ext uri="{FF2B5EF4-FFF2-40B4-BE49-F238E27FC236}">
                <a16:creationId xmlns:a16="http://schemas.microsoft.com/office/drawing/2014/main" id="{6B097B4F-DB0E-FB08-1F0A-7924D2341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  <a:solidFill>
            <a:schemeClr val="tx2">
              <a:lumMod val="60000"/>
              <a:lumOff val="40000"/>
              <a:alpha val="40000"/>
            </a:schemeClr>
          </a:solidFill>
        </p:grpSpPr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5658C14F-55FF-E288-CEFC-83F3017A6F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E63108ED-5B9F-192F-8012-718E0F69B3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335058E7-2DA4-5C66-87B4-6935CB195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628808CA-1BF9-326C-B51D-1EAB17A21F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74AD5754-ACB3-8885-BDFD-F857A035C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26AE4D43-C785-2E17-02CE-2F09510017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41893F23-D194-81BF-40E2-E1A0153C2F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0" name="Freeform 18">
              <a:extLst>
                <a:ext uri="{FF2B5EF4-FFF2-40B4-BE49-F238E27FC236}">
                  <a16:creationId xmlns:a16="http://schemas.microsoft.com/office/drawing/2014/main" id="{B4A53B3D-4CEC-6F37-386E-61E9832894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1" name="Freeform 19">
              <a:extLst>
                <a:ext uri="{FF2B5EF4-FFF2-40B4-BE49-F238E27FC236}">
                  <a16:creationId xmlns:a16="http://schemas.microsoft.com/office/drawing/2014/main" id="{725B3118-434D-1BB9-A76E-3BD5436892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E5396E46-B944-DF69-83B2-56F7C98269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B949EFF6-3014-B162-5D54-123EE8259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F7E867DF-4A91-F0A0-6118-A7CE385C7B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E4376E3-0356-B668-F90A-949D3AC914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  <a:solidFill>
            <a:schemeClr val="tx2">
              <a:lumMod val="75000"/>
              <a:alpha val="70000"/>
            </a:schemeClr>
          </a:solidFill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BE66818A-CD55-B080-75AC-D2C2B694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4789C1D9-3C4C-0049-9FA7-91D4650FC4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24358268-E0B3-D74B-B07D-7D85940AB8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B5614480-9017-BEB6-EA91-732B51D3E3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2D74B07A-E38A-B920-D09A-742ABC5E26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87B04425-FAD2-59C8-387A-D95A66A023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3" name="Freeform 33">
              <a:extLst>
                <a:ext uri="{FF2B5EF4-FFF2-40B4-BE49-F238E27FC236}">
                  <a16:creationId xmlns:a16="http://schemas.microsoft.com/office/drawing/2014/main" id="{E5AA8092-1E78-2D88-D1FD-12BD22976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4" name="Freeform 34">
              <a:extLst>
                <a:ext uri="{FF2B5EF4-FFF2-40B4-BE49-F238E27FC236}">
                  <a16:creationId xmlns:a16="http://schemas.microsoft.com/office/drawing/2014/main" id="{B87B70D8-475D-44AC-8344-AAA59658B6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5" name="Freeform 35">
              <a:extLst>
                <a:ext uri="{FF2B5EF4-FFF2-40B4-BE49-F238E27FC236}">
                  <a16:creationId xmlns:a16="http://schemas.microsoft.com/office/drawing/2014/main" id="{15E90275-495D-A197-5E3C-ABD08B296B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11C2C621-D9D6-C7E7-1053-8689F83B15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B9BA0742-176A-8585-DB3E-3102AF0E85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A08B7854-056D-1C2F-8E76-EE268976A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l-GR"/>
            </a:p>
          </p:txBody>
        </p:sp>
      </p:grpSp>
      <p:sp>
        <p:nvSpPr>
          <p:cNvPr id="40" name="Freeform 11">
            <a:extLst>
              <a:ext uri="{FF2B5EF4-FFF2-40B4-BE49-F238E27FC236}">
                <a16:creationId xmlns:a16="http://schemas.microsoft.com/office/drawing/2014/main" id="{61A7F61B-1D28-FE8F-8D66-733126E346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411452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0038757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DD787-73F4-DAEF-2079-6490A0625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CF8416B-1288-DE32-9956-86FEDC5C8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z="32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Πίνακας </a:t>
            </a:r>
            <a:r>
              <a:rPr lang="en-US" sz="32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S-box(</a:t>
            </a:r>
            <a:r>
              <a:rPr lang="en-US" sz="3200" b="1" dirty="0" err="1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SubBytes</a:t>
            </a:r>
            <a:r>
              <a:rPr lang="en-US" sz="32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br>
              <a:rPr lang="el-GR" dirty="0"/>
            </a:br>
            <a:endParaRPr lang="el-GR" dirty="0"/>
          </a:p>
        </p:txBody>
      </p:sp>
      <p:cxnSp>
        <p:nvCxnSpPr>
          <p:cNvPr id="4" name="Ευθεία γραμμή σύνδεσης 3">
            <a:extLst>
              <a:ext uri="{FF2B5EF4-FFF2-40B4-BE49-F238E27FC236}">
                <a16:creationId xmlns:a16="http://schemas.microsoft.com/office/drawing/2014/main" id="{77E1A9D7-73F3-7AD7-2D96-5C9403D2C961}"/>
              </a:ext>
            </a:extLst>
          </p:cNvPr>
          <p:cNvCxnSpPr>
            <a:cxnSpLocks/>
          </p:cNvCxnSpPr>
          <p:nvPr/>
        </p:nvCxnSpPr>
        <p:spPr>
          <a:xfrm>
            <a:off x="2488158" y="1399026"/>
            <a:ext cx="8632126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Θέση περιεχομένου 4">
            <a:extLst>
              <a:ext uri="{FF2B5EF4-FFF2-40B4-BE49-F238E27FC236}">
                <a16:creationId xmlns:a16="http://schemas.microsoft.com/office/drawing/2014/main" id="{0CADBB86-E4A5-C1BD-01BE-F41DED8BB6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94507"/>
            <a:ext cx="9524130" cy="5363493"/>
          </a:xfrm>
        </p:spPr>
        <p:txBody>
          <a:bodyPr/>
          <a:lstStyle/>
          <a:p>
            <a:r>
              <a:rPr lang="el-GR" b="1" i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Συνάρτηση </a:t>
            </a:r>
            <a:r>
              <a:rPr lang="en-US" b="1" i="1" u="sng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SubBytes</a:t>
            </a:r>
            <a:r>
              <a:rPr lang="en-US" b="1" i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S-box </a:t>
            </a:r>
            <a:r>
              <a:rPr lang="el-GR" b="1" i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μετασχηματισμός</a:t>
            </a:r>
            <a:endParaRPr lang="en-US" b="1" i="1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b="1" i="1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b="1" i="1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b="1" i="1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b="1" i="1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b="1" i="1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b="1" i="1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b="1" i="1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b="1" i="1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b="1" i="1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b="1" i="1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00050" lvl="1" indent="0">
              <a:buNone/>
            </a:pPr>
            <a:r>
              <a:rPr lang="el-GR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Πίσω στην </a:t>
            </a:r>
            <a:r>
              <a:rPr lang="en-US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SubBytes</a:t>
            </a:r>
            <a:endParaRPr lang="en-US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Εικόνα 5">
            <a:extLst>
              <a:ext uri="{FF2B5EF4-FFF2-40B4-BE49-F238E27FC236}">
                <a16:creationId xmlns:a16="http://schemas.microsoft.com/office/drawing/2014/main" id="{20C1211A-0571-6F38-BDCF-E225C7F79A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2007" y="2000480"/>
            <a:ext cx="7660290" cy="3804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55907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CAC41-799C-CD4D-C73D-DCD25F9F3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BAFDEA7B-FE7E-3370-D2DB-A0D7A5288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z="32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Πίνακας </a:t>
            </a:r>
            <a:r>
              <a:rPr lang="en-US" sz="32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Inverse S-box(</a:t>
            </a:r>
            <a:r>
              <a:rPr lang="en-US" sz="3200" b="1" dirty="0" err="1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InvSubBytes</a:t>
            </a:r>
            <a:r>
              <a:rPr lang="en-US" sz="32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br>
              <a:rPr lang="el-GR" dirty="0"/>
            </a:br>
            <a:endParaRPr lang="el-GR" dirty="0"/>
          </a:p>
        </p:txBody>
      </p:sp>
      <p:cxnSp>
        <p:nvCxnSpPr>
          <p:cNvPr id="4" name="Ευθεία γραμμή σύνδεσης 3">
            <a:extLst>
              <a:ext uri="{FF2B5EF4-FFF2-40B4-BE49-F238E27FC236}">
                <a16:creationId xmlns:a16="http://schemas.microsoft.com/office/drawing/2014/main" id="{DE2E0913-D1E4-A573-2A8E-4DC338A652F4}"/>
              </a:ext>
            </a:extLst>
          </p:cNvPr>
          <p:cNvCxnSpPr>
            <a:cxnSpLocks/>
          </p:cNvCxnSpPr>
          <p:nvPr/>
        </p:nvCxnSpPr>
        <p:spPr>
          <a:xfrm>
            <a:off x="2488158" y="1399026"/>
            <a:ext cx="8632126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Θέση περιεχομένου 4">
            <a:extLst>
              <a:ext uri="{FF2B5EF4-FFF2-40B4-BE49-F238E27FC236}">
                <a16:creationId xmlns:a16="http://schemas.microsoft.com/office/drawing/2014/main" id="{4F33AAB3-27D1-4723-666C-5EF57E49E1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94507"/>
            <a:ext cx="9524130" cy="5363493"/>
          </a:xfrm>
        </p:spPr>
        <p:txBody>
          <a:bodyPr/>
          <a:lstStyle/>
          <a:p>
            <a:r>
              <a:rPr lang="el-GR" b="1" i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Συνάρτηση </a:t>
            </a:r>
            <a:r>
              <a:rPr lang="en-US" b="1" i="1" u="sng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InvSubBytes</a:t>
            </a:r>
            <a:r>
              <a:rPr lang="el-GR" b="1" i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Αντίστροφος </a:t>
            </a:r>
            <a:r>
              <a:rPr lang="en-US" b="1" i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S-box</a:t>
            </a:r>
          </a:p>
          <a:p>
            <a:pPr marL="0" indent="0">
              <a:buNone/>
            </a:pPr>
            <a:endParaRPr lang="en-US" b="1" i="1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b="1" i="1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b="1" i="1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b="1" i="1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b="1" i="1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b="1" i="1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b="1" i="1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b="1" i="1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b="1" i="1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b="1" i="1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00050" lvl="1" indent="0">
              <a:buNone/>
            </a:pPr>
            <a:r>
              <a:rPr lang="el-GR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Πίσω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Εικόνα 6">
            <a:extLst>
              <a:ext uri="{FF2B5EF4-FFF2-40B4-BE49-F238E27FC236}">
                <a16:creationId xmlns:a16="http://schemas.microsoft.com/office/drawing/2014/main" id="{E59A96F1-70B8-34C7-88B7-A24C1679C1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5194" y="2000480"/>
            <a:ext cx="7551174" cy="3896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96733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EB704-3089-AF17-03E5-602F1EEC4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35E0595A-B718-E50C-4E36-A1D0BCEA1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l-GR" sz="32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Η λειτουργία </a:t>
            </a:r>
            <a:r>
              <a:rPr lang="en-US" sz="3200" b="1" dirty="0" err="1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xtimes</a:t>
            </a:r>
            <a:r>
              <a:rPr lang="en-US" sz="32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el-GR" sz="32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Παράδειγμα</a:t>
            </a:r>
            <a:br>
              <a:rPr lang="el-GR" dirty="0"/>
            </a:br>
            <a:endParaRPr lang="el-GR" dirty="0"/>
          </a:p>
        </p:txBody>
      </p:sp>
      <p:cxnSp>
        <p:nvCxnSpPr>
          <p:cNvPr id="4" name="Ευθεία γραμμή σύνδεσης 3">
            <a:extLst>
              <a:ext uri="{FF2B5EF4-FFF2-40B4-BE49-F238E27FC236}">
                <a16:creationId xmlns:a16="http://schemas.microsoft.com/office/drawing/2014/main" id="{FDE7F868-8C02-9A97-96E6-C49DA637DD1B}"/>
              </a:ext>
            </a:extLst>
          </p:cNvPr>
          <p:cNvCxnSpPr>
            <a:cxnSpLocks/>
          </p:cNvCxnSpPr>
          <p:nvPr/>
        </p:nvCxnSpPr>
        <p:spPr>
          <a:xfrm>
            <a:off x="2488158" y="1399026"/>
            <a:ext cx="8632126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Θέση περιεχομένου 4">
            <a:extLst>
              <a:ext uri="{FF2B5EF4-FFF2-40B4-BE49-F238E27FC236}">
                <a16:creationId xmlns:a16="http://schemas.microsoft.com/office/drawing/2014/main" id="{6D26E45E-F9AA-1765-6C04-69C564DEA5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8735" y="1317523"/>
            <a:ext cx="9773266" cy="554047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l-GR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Πολλαπλασιασμός στο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Galois Field GF(2</a:t>
            </a:r>
            <a:r>
              <a:rPr lang="en-US" sz="1600" b="1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						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{89}</a:t>
            </a:r>
            <a:r>
              <a:rPr lang="el-GR" sz="2000" dirty="0"/>
              <a:t> · </a:t>
            </a:r>
            <a:r>
              <a:rPr lang="en-US" sz="2000" dirty="0"/>
              <a:t>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{01}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{89}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		</a:t>
            </a:r>
            <a:endParaRPr lang="el-GR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l-G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Ορισμός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												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{89}</a:t>
            </a:r>
            <a:r>
              <a:rPr lang="el-GR" dirty="0"/>
              <a:t> · </a:t>
            </a:r>
            <a:r>
              <a:rPr lang="en-US" dirty="0"/>
              <a:t>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{02}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xtimes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({89}) = {09}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Πολλαπλασιασμός με {02} στο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GF(2</a:t>
            </a:r>
            <a:r>
              <a:rPr lang="en-US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					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{89}</a:t>
            </a:r>
            <a:r>
              <a:rPr lang="el-GR" sz="1800" dirty="0"/>
              <a:t> · </a:t>
            </a:r>
            <a:r>
              <a:rPr lang="en-US" sz="1800" dirty="0"/>
              <a:t>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{04}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xtimes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({09}) = {12}</a:t>
            </a:r>
            <a:endParaRPr lang="el-GR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Χρησιμοποιείται στη λειτουργία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MixColumns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		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{89}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l-GR" sz="1800" dirty="0"/>
              <a:t>· </a:t>
            </a:r>
            <a:r>
              <a:rPr lang="en-US" sz="1800" dirty="0"/>
              <a:t>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{08}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xtimes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({12}) = {24}</a:t>
            </a:r>
            <a:endParaRPr lang="el-GR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l-G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Αλγόριθμος </a:t>
            </a: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xtimes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									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{89}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l-GR" dirty="0"/>
              <a:t>· </a:t>
            </a:r>
            <a:r>
              <a:rPr lang="en-US" dirty="0"/>
              <a:t>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xtimes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({12}) = {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48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</a:t>
            </a:r>
            <a:endParaRPr lang="el-GR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</a:t>
            </a:r>
            <a:r>
              <a:rPr lang="el-G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												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…</a:t>
            </a:r>
          </a:p>
          <a:p>
            <a:pPr marL="0" indent="0">
              <a:buNone/>
            </a:pPr>
            <a:r>
              <a:rPr lang="el-G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										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Με τα παραπάνω γινόμενα μπορούμε να 														  υλοποιήσουμε οποιοδήποτε πολλαπλάσιο</a:t>
            </a:r>
            <a:r>
              <a:rPr lang="el-G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												</a:t>
            </a:r>
          </a:p>
          <a:p>
            <a:pPr marL="0" indent="0">
              <a:buNone/>
            </a:pP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Ο πολλαπλασιασμός με μεγαλύτερες δυνάμεις του 		</a:t>
            </a:r>
            <a:r>
              <a:rPr lang="el-G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Για παράδειγμα,</a:t>
            </a:r>
          </a:p>
          <a:p>
            <a:pPr marL="0" indent="0">
              <a:buNone/>
            </a:pP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{02}(όπως {04},{08},{10}) μπορεί να υλοποιηθεί με 		{89} </a:t>
            </a:r>
            <a:r>
              <a:rPr lang="el-GR" dirty="0"/>
              <a:t>· </a:t>
            </a:r>
            <a:r>
              <a:rPr lang="en-US" dirty="0"/>
              <a:t>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11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{89} ({01} </a:t>
            </a:r>
            <a:r>
              <a:rPr lang="el-GR" dirty="0"/>
              <a:t>⊕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{10})</a:t>
            </a:r>
          </a:p>
          <a:p>
            <a:pPr marL="0" indent="0">
              <a:buNone/>
            </a:pP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επαναλαμβανόμενη εφαρμογή της συνάρτησης 				            = {89} </a:t>
            </a:r>
            <a:r>
              <a:rPr lang="el-GR" dirty="0"/>
              <a:t>·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{01} </a:t>
            </a:r>
            <a:r>
              <a:rPr lang="el-GR" dirty="0"/>
              <a:t>⊕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{89} </a:t>
            </a:r>
            <a:r>
              <a:rPr lang="el-GR" dirty="0"/>
              <a:t>·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{10} 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Xtimes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Για παράδειγμα, έστω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 = {89}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l-G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				   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 {89} </a:t>
            </a:r>
            <a:r>
              <a:rPr lang="el-GR" dirty="0"/>
              <a:t>⊕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{48} </a:t>
            </a:r>
            <a:r>
              <a:rPr lang="el-GR" dirty="0"/>
              <a:t>=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C1}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l-GR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Πίσω</a:t>
            </a:r>
            <a:endParaRPr lang="en-US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baseline="30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Εικόνα 5">
            <a:extLst>
              <a:ext uri="{FF2B5EF4-FFF2-40B4-BE49-F238E27FC236}">
                <a16:creationId xmlns:a16="http://schemas.microsoft.com/office/drawing/2014/main" id="{54707B4C-00C5-586E-4393-A42FE888C4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5894" y="3636179"/>
            <a:ext cx="4465707" cy="1280885"/>
          </a:xfrm>
          <a:prstGeom prst="rect">
            <a:avLst/>
          </a:prstGeom>
        </p:spPr>
      </p:pic>
      <p:cxnSp>
        <p:nvCxnSpPr>
          <p:cNvPr id="8" name="Ευθεία γραμμή σύνδεσης 7">
            <a:extLst>
              <a:ext uri="{FF2B5EF4-FFF2-40B4-BE49-F238E27FC236}">
                <a16:creationId xmlns:a16="http://schemas.microsoft.com/office/drawing/2014/main" id="{4CC9E537-9A8B-470E-9A40-780176DCB6DA}"/>
              </a:ext>
            </a:extLst>
          </p:cNvPr>
          <p:cNvCxnSpPr>
            <a:cxnSpLocks/>
          </p:cNvCxnSpPr>
          <p:nvPr/>
        </p:nvCxnSpPr>
        <p:spPr>
          <a:xfrm>
            <a:off x="7767484" y="1399026"/>
            <a:ext cx="117987" cy="5375400"/>
          </a:xfrm>
          <a:prstGeom prst="line">
            <a:avLst/>
          </a:prstGeom>
          <a:ln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Ευθεία γραμμή σύνδεσης 20">
            <a:extLst>
              <a:ext uri="{FF2B5EF4-FFF2-40B4-BE49-F238E27FC236}">
                <a16:creationId xmlns:a16="http://schemas.microsoft.com/office/drawing/2014/main" id="{252D3EE7-62D7-8D5A-E329-6EF931ADB095}"/>
              </a:ext>
            </a:extLst>
          </p:cNvPr>
          <p:cNvCxnSpPr/>
          <p:nvPr/>
        </p:nvCxnSpPr>
        <p:spPr>
          <a:xfrm>
            <a:off x="6184490" y="6479458"/>
            <a:ext cx="149450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Ευθεία γραμμή σύνδεσης 22">
            <a:extLst>
              <a:ext uri="{FF2B5EF4-FFF2-40B4-BE49-F238E27FC236}">
                <a16:creationId xmlns:a16="http://schemas.microsoft.com/office/drawing/2014/main" id="{25C57F26-9EDB-4C2C-56BB-48F8A8DDF77E}"/>
              </a:ext>
            </a:extLst>
          </p:cNvPr>
          <p:cNvCxnSpPr>
            <a:cxnSpLocks/>
          </p:cNvCxnSpPr>
          <p:nvPr/>
        </p:nvCxnSpPr>
        <p:spPr>
          <a:xfrm flipH="1" flipV="1">
            <a:off x="7581601" y="1905000"/>
            <a:ext cx="97393" cy="45744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Ευθύγραμμο βέλος σύνδεσης 24">
            <a:extLst>
              <a:ext uri="{FF2B5EF4-FFF2-40B4-BE49-F238E27FC236}">
                <a16:creationId xmlns:a16="http://schemas.microsoft.com/office/drawing/2014/main" id="{845FD3FD-863C-D551-3BD3-88AF5562680A}"/>
              </a:ext>
            </a:extLst>
          </p:cNvPr>
          <p:cNvCxnSpPr>
            <a:cxnSpLocks/>
          </p:cNvCxnSpPr>
          <p:nvPr/>
        </p:nvCxnSpPr>
        <p:spPr>
          <a:xfrm>
            <a:off x="7581601" y="1905000"/>
            <a:ext cx="6676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2042811"/>
      </p:ext>
    </p:extLst>
  </p:cSld>
  <p:clrMapOvr>
    <a:masterClrMapping/>
  </p:clrMapOvr>
</p:sld>
</file>

<file path=ppt/theme/theme1.xml><?xml version="1.0" encoding="utf-8"?>
<a:theme xmlns:a="http://schemas.openxmlformats.org/drawingml/2006/main" name="Θρόισμα">
  <a:themeElements>
    <a:clrScheme name="Μπλε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Θρόισμα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Θρόισμα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TM04033919[[fn=Κύκλωμα]]</Template>
  <TotalTime>2028</TotalTime>
  <Words>2862</Words>
  <Application>Microsoft Office PowerPoint</Application>
  <PresentationFormat>Ευρεία οθόνη</PresentationFormat>
  <Paragraphs>420</Paragraphs>
  <Slides>43</Slides>
  <Notes>0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5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43</vt:i4>
      </vt:variant>
    </vt:vector>
  </HeadingPairs>
  <TitlesOfParts>
    <vt:vector size="49" baseType="lpstr">
      <vt:lpstr>Arial</vt:lpstr>
      <vt:lpstr>Calibri</vt:lpstr>
      <vt:lpstr>Century Gothic</vt:lpstr>
      <vt:lpstr>Wingdings</vt:lpstr>
      <vt:lpstr>Wingdings 3</vt:lpstr>
      <vt:lpstr>Θρόισμα</vt:lpstr>
      <vt:lpstr>Υλοποίηση του Αλγορίθμου Κρυπτογράφησης AES σε VHDL για το FPGA Cyclone II της Altera.</vt:lpstr>
      <vt:lpstr>Δομή Παρουσίασης </vt:lpstr>
      <vt:lpstr>Παρουσίαση του PowerPoint</vt:lpstr>
      <vt:lpstr>Σκοπός και Στόχοι </vt:lpstr>
      <vt:lpstr>Ροή Ολοκληρωμένου Συστήματος AES  </vt:lpstr>
      <vt:lpstr>Παρουσίαση του PowerPoint</vt:lpstr>
      <vt:lpstr>Τι είναι η Κρυπτογραφία; </vt:lpstr>
      <vt:lpstr>Γιατί η επιλογή του AES; </vt:lpstr>
      <vt:lpstr>Τι είναι το AES; </vt:lpstr>
      <vt:lpstr>AES Cipher - Κρυπτογράφηση </vt:lpstr>
      <vt:lpstr>State(Κατάσταση) </vt:lpstr>
      <vt:lpstr>Λειτουργίες AES Cipher </vt:lpstr>
      <vt:lpstr>Λειτουργίες AES Cipher </vt:lpstr>
      <vt:lpstr>Λειτουργίες AES Cipher </vt:lpstr>
      <vt:lpstr>Λειτουργίες AES Cipher </vt:lpstr>
      <vt:lpstr>KeyExpansion – Παραγωγή Κλειδιών Γύρου </vt:lpstr>
      <vt:lpstr>KeyExpansion – Απεικόνιση Λειτουργιών </vt:lpstr>
      <vt:lpstr>KeyExpansion – Παράδειγμα για AES-128 </vt:lpstr>
      <vt:lpstr>AES InvCipher - Αποκρυπτογράφηση </vt:lpstr>
      <vt:lpstr>AES InvCipher - Αποκρυπτογράφηση </vt:lpstr>
      <vt:lpstr>Παρουσίαση του PowerPoint</vt:lpstr>
      <vt:lpstr>Εισαγωγή στην Αρχιτεκτονική του Συστήματος </vt:lpstr>
      <vt:lpstr>Υλοποίηση AES Cipher </vt:lpstr>
      <vt:lpstr>RTL AES Cipher </vt:lpstr>
      <vt:lpstr>Υλοποίηση AES InvCipher </vt:lpstr>
      <vt:lpstr>RTL AES InvCipher </vt:lpstr>
      <vt:lpstr>Ολοκληρωμένο AES Module </vt:lpstr>
      <vt:lpstr>Μονάδες UART Εισόδων και Εξόδων </vt:lpstr>
      <vt:lpstr>Τελική Διασύνδεση AES - UART </vt:lpstr>
      <vt:lpstr>Παρουσίαση του PowerPoint</vt:lpstr>
      <vt:lpstr>Στόχοι και Μεθοδολογία </vt:lpstr>
      <vt:lpstr>Επαλήθευση Λειτουργίας μέσω ModelSim </vt:lpstr>
      <vt:lpstr>Λειτουργία σε Πραγματικό Hardware - User Flow </vt:lpstr>
      <vt:lpstr>Μετρήσεις Πόρων και Απόδοσης στο FPGA  </vt:lpstr>
      <vt:lpstr>Ανάλυση Πειραματικής Αξιολόγησης και Παρατηρήσεις </vt:lpstr>
      <vt:lpstr>Παρουσίαση του PowerPoint</vt:lpstr>
      <vt:lpstr>Κύρια Συμπεράσματα </vt:lpstr>
      <vt:lpstr>Μελλοντικές Επεκτάσεις </vt:lpstr>
      <vt:lpstr>Παρουσίαση του PowerPoint</vt:lpstr>
      <vt:lpstr>Παρουσίαση του PowerPoint</vt:lpstr>
      <vt:lpstr>Πίνακας S-box(SubBytes) </vt:lpstr>
      <vt:lpstr>Πίνακας Inverse S-box(InvSubBytes) </vt:lpstr>
      <vt:lpstr>Η λειτουργία xtimes - Παράδειγμα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Takis</dc:creator>
  <cp:lastModifiedBy>Takis</cp:lastModifiedBy>
  <cp:revision>128</cp:revision>
  <dcterms:created xsi:type="dcterms:W3CDTF">2025-10-01T09:51:17Z</dcterms:created>
  <dcterms:modified xsi:type="dcterms:W3CDTF">2025-10-15T08:38:04Z</dcterms:modified>
</cp:coreProperties>
</file>